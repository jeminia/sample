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73" r:id="rId4"/>
    <p:sldId id="295" r:id="rId5"/>
    <p:sldId id="271" r:id="rId6"/>
    <p:sldId id="300" r:id="rId7"/>
    <p:sldId id="297" r:id="rId8"/>
    <p:sldId id="269" r:id="rId9"/>
    <p:sldId id="298" r:id="rId10"/>
    <p:sldId id="299" r:id="rId11"/>
  </p:sldIdLst>
  <p:sldSz cx="10691813" cy="7559675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隆行 永田" initials="隆行" lastIdx="1" clrIdx="0">
    <p:extLst>
      <p:ext uri="{19B8F6BF-5375-455C-9EA6-DF929625EA0E}">
        <p15:presenceInfo xmlns:p15="http://schemas.microsoft.com/office/powerpoint/2012/main" userId="0552b0138d49324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FFFF9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7" autoAdjust="0"/>
    <p:restoredTop sz="83113" autoAdjust="0"/>
  </p:normalViewPr>
  <p:slideViewPr>
    <p:cSldViewPr snapToGrid="0">
      <p:cViewPr varScale="1">
        <p:scale>
          <a:sx n="76" d="100"/>
          <a:sy n="76" d="100"/>
        </p:scale>
        <p:origin x="26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256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EA3928-CE03-4A8D-B981-50CDD85CF43B}" type="datetimeFigureOut">
              <a:rPr kumimoji="1" lang="ja-JP" altLang="en-US" smtClean="0"/>
              <a:t>2019/3/17</a:t>
            </a:fld>
            <a:endParaRPr kumimoji="1"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E8E059-174F-4295-8D8B-B0A1DFE483F9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58254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E8E059-174F-4295-8D8B-B0A1DFE483F9}" type="slidenum">
              <a:rPr kumimoji="1" lang="ja-JP" altLang="en-US" smtClean="0"/>
              <a:t>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72364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smtClean="0"/>
              <a:t>REST</a:t>
            </a:r>
            <a:r>
              <a:rPr kumimoji="1" lang="ja-JP" altLang="en-US" dirty="0" smtClean="0"/>
              <a:t>についての説明を書く</a:t>
            </a:r>
            <a:endParaRPr kumimoji="1" lang="en-US" altLang="ja-JP" dirty="0" smtClean="0"/>
          </a:p>
          <a:p>
            <a:endParaRPr kumimoji="1" lang="en-US" altLang="ja-JP" dirty="0" smtClean="0"/>
          </a:p>
          <a:p>
            <a:r>
              <a:rPr kumimoji="1" lang="ja-JP" altLang="en-US" dirty="0" smtClean="0"/>
              <a:t>・</a:t>
            </a:r>
            <a:r>
              <a:rPr kumimoji="1" lang="en-US" altLang="ja-JP" dirty="0" smtClean="0"/>
              <a:t>REST</a:t>
            </a:r>
            <a:r>
              <a:rPr kumimoji="1" lang="ja-JP" altLang="en-US" dirty="0" smtClean="0"/>
              <a:t>の</a:t>
            </a:r>
            <a:r>
              <a:rPr kumimoji="1" lang="en-US" altLang="ja-JP" dirty="0" smtClean="0"/>
              <a:t>4</a:t>
            </a:r>
            <a:r>
              <a:rPr kumimoji="1" lang="ja-JP" altLang="en-US" dirty="0" err="1" smtClean="0"/>
              <a:t>つの</a:t>
            </a:r>
            <a:r>
              <a:rPr kumimoji="1" lang="ja-JP" altLang="en-US" dirty="0" smtClean="0"/>
              <a:t>設計思想</a:t>
            </a:r>
            <a:endParaRPr kumimoji="1" lang="en-US" altLang="ja-JP" dirty="0" smtClean="0"/>
          </a:p>
          <a:p>
            <a:r>
              <a:rPr kumimoji="1" lang="ja-JP" altLang="en-US" dirty="0" smtClean="0"/>
              <a:t>・クライアントサーバー</a:t>
            </a:r>
            <a:endParaRPr kumimoji="1" lang="en-US" altLang="ja-JP" dirty="0" smtClean="0"/>
          </a:p>
          <a:p>
            <a:r>
              <a:rPr kumimoji="1" lang="ja-JP" altLang="en-US" dirty="0" smtClean="0"/>
              <a:t>・キャッシュ可能・不可能を明確に</a:t>
            </a:r>
            <a:endParaRPr kumimoji="1" lang="en-US" altLang="ja-JP" dirty="0" smtClean="0"/>
          </a:p>
          <a:p>
            <a:r>
              <a:rPr kumimoji="1" lang="ja-JP" altLang="en-US" dirty="0" smtClean="0"/>
              <a:t>・レイヤー化システム</a:t>
            </a:r>
            <a:endParaRPr kumimoji="1" lang="en-US" altLang="ja-JP" dirty="0" smtClean="0"/>
          </a:p>
          <a:p>
            <a:r>
              <a:rPr kumimoji="1" lang="ja-JP" altLang="en-US" dirty="0" smtClean="0"/>
              <a:t>・コードオンデマンド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E8E059-174F-4295-8D8B-B0A1DFE483F9}" type="slidenum">
              <a:rPr kumimoji="1" lang="ja-JP" altLang="en-US" smtClean="0"/>
              <a:t>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920226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smtClean="0"/>
              <a:t>REST</a:t>
            </a:r>
            <a:r>
              <a:rPr kumimoji="1" lang="ja-JP" altLang="en-US" dirty="0" smtClean="0"/>
              <a:t>の特徴・メリット・デメリットを書く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E8E059-174F-4295-8D8B-B0A1DFE483F9}" type="slidenum">
              <a:rPr kumimoji="1" lang="ja-JP" altLang="en-US" smtClean="0"/>
              <a:t>4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97535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err="1" smtClean="0"/>
              <a:t>GraphQL</a:t>
            </a:r>
            <a:r>
              <a:rPr kumimoji="1" lang="ja-JP" altLang="en-US" dirty="0" smtClean="0"/>
              <a:t>の説明を書く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E8E059-174F-4295-8D8B-B0A1DFE483F9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33154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smtClean="0"/>
              <a:t>REST</a:t>
            </a:r>
            <a:r>
              <a:rPr kumimoji="1" lang="ja-JP" altLang="en-US" dirty="0" smtClean="0"/>
              <a:t>の特徴・メリット・デメリットを書く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E8E059-174F-4295-8D8B-B0A1DFE483F9}" type="slidenum">
              <a:rPr kumimoji="1" lang="ja-JP" altLang="en-US" smtClean="0"/>
              <a:t>6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822084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 smtClean="0"/>
              <a:t>進捗報告資料のフォーマット：自社標準でよい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E8E059-174F-4295-8D8B-B0A1DFE483F9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1662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 smtClean="0"/>
              <a:t>進捗報告資料のフォーマット：自社標準でよい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E8E059-174F-4295-8D8B-B0A1DFE483F9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79512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 smtClean="0"/>
              <a:t>進捗報告資料のフォーマット：自社標準でよい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E8E059-174F-4295-8D8B-B0A1DFE483F9}" type="slidenum">
              <a:rPr kumimoji="1" lang="ja-JP" altLang="en-US" smtClean="0"/>
              <a:t>9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866071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 smtClean="0"/>
              <a:t>進捗報告資料のフォーマット：自社標準でよい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E8E059-174F-4295-8D8B-B0A1DFE483F9}" type="slidenum">
              <a:rPr kumimoji="1" lang="ja-JP" altLang="en-US" smtClean="0"/>
              <a:t>10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68633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" y="0"/>
            <a:ext cx="10691677" cy="755928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1886" y="1762491"/>
            <a:ext cx="9088041" cy="1233629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ja-JP" altLang="en-US" dirty="0" smtClean="0"/>
              <a:t>タイトル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788031"/>
          </a:xfrm>
        </p:spPr>
        <p:txBody>
          <a:bodyPr/>
          <a:lstStyle>
            <a:lvl1pPr marL="0" indent="0" algn="ctr">
              <a:buNone/>
              <a:defRPr sz="2646">
                <a:solidFill>
                  <a:schemeClr val="bg1"/>
                </a:solidFill>
              </a:defRPr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ja-JP" altLang="en-US" smtClean="0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8B60-6D5A-4F7B-AB68-54A4501D7CA2}" type="datetime1">
              <a:rPr kumimoji="1" lang="ja-JP" altLang="en-US" smtClean="0"/>
              <a:t>2019/3/17</a:t>
            </a:fld>
            <a:endParaRPr kumimoji="1" lang="ja-JP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8A0EF-F5B4-4572-888B-A40037D59371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35624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" y="0"/>
            <a:ext cx="10692235" cy="7559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062" y="700392"/>
            <a:ext cx="9221689" cy="1163280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D5ED3-2D3A-499C-A1F3-BE9D6181C813}" type="datetime1">
              <a:rPr kumimoji="1" lang="ja-JP" altLang="en-US" smtClean="0"/>
              <a:t>2019/3/17</a:t>
            </a:fld>
            <a:endParaRPr kumimoji="1" lang="ja-JP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8A0EF-F5B4-4572-888B-A40037D59371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53249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" y="0"/>
            <a:ext cx="10691677" cy="75597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6426" y="1359377"/>
            <a:ext cx="8725710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6426" y="4533741"/>
            <a:ext cx="8725710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D5091-87D5-4CFF-A4D8-EF2902715F43}" type="datetime1">
              <a:rPr kumimoji="1" lang="ja-JP" altLang="en-US" smtClean="0"/>
              <a:t>2019/3/17</a:t>
            </a:fld>
            <a:endParaRPr kumimoji="1" lang="ja-JP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8A0EF-F5B4-4572-888B-A40037D59371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87349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" y="0"/>
            <a:ext cx="10692235" cy="755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735062" y="700392"/>
            <a:ext cx="9221689" cy="1163280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0213C-8677-4CEC-8502-C651C8A20144}" type="datetime1">
              <a:rPr kumimoji="1" lang="ja-JP" altLang="en-US" smtClean="0"/>
              <a:t>2019/3/17</a:t>
            </a:fld>
            <a:endParaRPr kumimoji="1" lang="ja-JP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8A0EF-F5B4-4572-888B-A40037D59371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75873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" y="0"/>
            <a:ext cx="10692235" cy="755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735062" y="700392"/>
            <a:ext cx="9221689" cy="1163280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2B3D3-C7B8-4EC1-969E-2A3CA6D41878}" type="datetime1">
              <a:rPr kumimoji="1" lang="ja-JP" altLang="en-US" smtClean="0"/>
              <a:t>2019/3/17</a:t>
            </a:fld>
            <a:endParaRPr kumimoji="1" lang="ja-JP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8A0EF-F5B4-4572-888B-A40037D59371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06256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" y="0"/>
            <a:ext cx="10691677" cy="7559772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556426" y="1359377"/>
            <a:ext cx="8725710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91462-9DB2-44FC-986D-53FA87263737}" type="datetime1">
              <a:rPr kumimoji="1" lang="ja-JP" altLang="en-US" smtClean="0"/>
              <a:t>2019/3/17</a:t>
            </a:fld>
            <a:endParaRPr kumimoji="1" lang="ja-JP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8A0EF-F5B4-4572-888B-A40037D59371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76858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2D607-0D7B-41B3-A92B-9D76EE102852}" type="datetime1">
              <a:rPr kumimoji="1" lang="ja-JP" altLang="en-US" smtClean="0"/>
              <a:t>2019/3/17</a:t>
            </a:fld>
            <a:endParaRPr kumimoji="1" lang="ja-JP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8A0EF-F5B4-4572-888B-A40037D59371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1585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" y="0"/>
            <a:ext cx="10692235" cy="7559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1088454"/>
            <a:ext cx="3448388" cy="1179447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C3728-7199-477C-A7BB-5B01E939FB3D}" type="datetime1">
              <a:rPr kumimoji="1" lang="ja-JP" altLang="en-US" smtClean="0"/>
              <a:t>2019/3/17</a:t>
            </a:fld>
            <a:endParaRPr kumimoji="1" lang="ja-JP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8A0EF-F5B4-4572-888B-A40037D59371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0198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" y="0"/>
            <a:ext cx="10692235" cy="7559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1088454"/>
            <a:ext cx="3448388" cy="1179447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ja-JP" altLang="en-US" dirty="0" smtClean="0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D337-56C3-4501-B51A-AA689CBC6514}" type="datetime1">
              <a:rPr kumimoji="1" lang="ja-JP" altLang="en-US" smtClean="0"/>
              <a:t>2019/3/17</a:t>
            </a:fld>
            <a:endParaRPr kumimoji="1" lang="ja-JP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8A0EF-F5B4-4572-888B-A40037D59371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37613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" y="0"/>
            <a:ext cx="10692235" cy="75596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35062" y="700392"/>
            <a:ext cx="9221689" cy="1163280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E1E3-BD98-434F-86AC-8160C50D6989}" type="datetime1">
              <a:rPr kumimoji="1" lang="ja-JP" altLang="en-US" smtClean="0"/>
              <a:t>2019/3/17</a:t>
            </a:fld>
            <a:endParaRPr kumimoji="1" lang="ja-JP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8A0EF-F5B4-4572-888B-A40037D59371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21927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" y="0"/>
            <a:ext cx="10692235" cy="7559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933855"/>
            <a:ext cx="2305422" cy="5875103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933855"/>
            <a:ext cx="6782619" cy="5875103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A2E4A-C3A2-4721-8D4A-0533D78BA110}" type="datetime1">
              <a:rPr kumimoji="1" lang="ja-JP" altLang="en-US" smtClean="0"/>
              <a:t>2019/3/17</a:t>
            </a:fld>
            <a:endParaRPr kumimoji="1" lang="ja-JP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8A0EF-F5B4-4572-888B-A40037D59371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50281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92059-9BF3-4BA8-858A-7719C1728886}" type="datetime1">
              <a:rPr kumimoji="1" lang="ja-JP" altLang="en-US" smtClean="0"/>
              <a:t>2019/3/17</a:t>
            </a:fld>
            <a:endParaRPr kumimoji="1" lang="ja-JP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D8A0EF-F5B4-4572-888B-A40037D59371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60943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kumimoji="1"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kumimoji="1"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xxxxxx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 smtClean="0"/>
              <a:t>WEB API </a:t>
            </a:r>
            <a:r>
              <a:rPr kumimoji="1" lang="ja-JP" altLang="en-US" dirty="0" smtClean="0"/>
              <a:t>調査資料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8A0EF-F5B4-4572-888B-A40037D59371}" type="slidenum">
              <a:rPr kumimoji="1" lang="ja-JP" altLang="en-US" smtClean="0"/>
              <a:t>1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02212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25908" y="41564"/>
            <a:ext cx="9221689" cy="463390"/>
          </a:xfrm>
        </p:spPr>
        <p:txBody>
          <a:bodyPr>
            <a:noAutofit/>
          </a:bodyPr>
          <a:lstStyle/>
          <a:p>
            <a:r>
              <a:rPr kumimoji="1" lang="ja-JP" altLang="en-US" sz="2800" b="1" u="sng" dirty="0" smtClean="0">
                <a:solidFill>
                  <a:schemeClr val="bg1"/>
                </a:solidFill>
              </a:rPr>
              <a:t>はじめに</a:t>
            </a:r>
            <a:endParaRPr kumimoji="1" lang="ja-JP" altLang="en-US" sz="2800" b="1" u="sng" dirty="0">
              <a:solidFill>
                <a:schemeClr val="bg1"/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4143077" y="7157192"/>
            <a:ext cx="2405658" cy="402483"/>
          </a:xfrm>
        </p:spPr>
        <p:txBody>
          <a:bodyPr/>
          <a:lstStyle/>
          <a:p>
            <a:pPr algn="ctr"/>
            <a:fld id="{AED8A0EF-F5B4-4572-888B-A40037D59371}" type="slidenum">
              <a:rPr kumimoji="1" lang="ja-JP" altLang="en-US" smtClean="0"/>
              <a:pPr algn="ctr"/>
              <a:t>2</a:t>
            </a:fld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72717" y="1174170"/>
            <a:ext cx="86479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 smtClean="0"/>
              <a:t>本資料は新規案件の</a:t>
            </a:r>
            <a:r>
              <a:rPr lang="en-US" altLang="ja-JP" dirty="0" smtClean="0"/>
              <a:t>API</a:t>
            </a:r>
            <a:r>
              <a:rPr lang="ja-JP" altLang="en-US" dirty="0" smtClean="0"/>
              <a:t>刷新に当たって、最近の</a:t>
            </a:r>
            <a:r>
              <a:rPr lang="en-US" altLang="ja-JP" dirty="0" smtClean="0"/>
              <a:t>WEB API</a:t>
            </a:r>
            <a:r>
              <a:rPr lang="ja-JP" altLang="en-US" dirty="0" smtClean="0"/>
              <a:t>の開発動向を調査し</a:t>
            </a:r>
            <a:endParaRPr lang="en-US" altLang="ja-JP" dirty="0"/>
          </a:p>
          <a:p>
            <a:r>
              <a:rPr lang="ja-JP" altLang="en-US" dirty="0" smtClean="0"/>
              <a:t>各</a:t>
            </a:r>
            <a:r>
              <a:rPr lang="en-US" altLang="ja-JP" dirty="0" smtClean="0"/>
              <a:t>WEB API</a:t>
            </a:r>
            <a:r>
              <a:rPr lang="ja-JP" altLang="en-US" dirty="0" smtClean="0"/>
              <a:t>の特徴について示した資料となります。</a:t>
            </a:r>
            <a:endParaRPr lang="en-US" altLang="ja-JP" dirty="0" smtClean="0"/>
          </a:p>
          <a:p>
            <a:endParaRPr kumimoji="1" lang="en-US" altLang="ja-JP" dirty="0"/>
          </a:p>
          <a:p>
            <a:r>
              <a:rPr kumimoji="1" lang="en-US" altLang="ja-JP" dirty="0" smtClean="0"/>
              <a:t>WEB API</a:t>
            </a:r>
            <a:r>
              <a:rPr kumimoji="1" lang="ja-JP" altLang="en-US" dirty="0" smtClean="0"/>
              <a:t>の規格についてメリット・デメリットを踏まえた上で、</a:t>
            </a:r>
            <a:endParaRPr kumimoji="1" lang="en-US" altLang="ja-JP" dirty="0" smtClean="0"/>
          </a:p>
          <a:p>
            <a:r>
              <a:rPr lang="ja-JP" altLang="en-US" dirty="0" smtClean="0"/>
              <a:t>刷新の方針について検討致します</a:t>
            </a:r>
            <a:r>
              <a:rPr lang="ja-JP" altLang="en-US" dirty="0"/>
              <a:t>。</a:t>
            </a:r>
            <a:endParaRPr kumimoji="1"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3259926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25908" y="41564"/>
            <a:ext cx="9221689" cy="463390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ja-JP" sz="2800" b="1" u="sng" dirty="0" smtClean="0">
                <a:solidFill>
                  <a:schemeClr val="bg1"/>
                </a:solidFill>
                <a:latin typeface="+mj-ea"/>
              </a:rPr>
              <a:t>REST </a:t>
            </a:r>
            <a:r>
              <a:rPr lang="en-US" altLang="ja-JP" sz="2800" b="1" u="sng" dirty="0" smtClean="0">
                <a:solidFill>
                  <a:schemeClr val="bg1"/>
                </a:solidFill>
                <a:latin typeface="+mj-ea"/>
              </a:rPr>
              <a:t>API(1/2)</a:t>
            </a:r>
            <a:endParaRPr lang="en-US" altLang="ja-JP" sz="2800" u="sng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4143077" y="7157192"/>
            <a:ext cx="2405658" cy="402483"/>
          </a:xfrm>
        </p:spPr>
        <p:txBody>
          <a:bodyPr/>
          <a:lstStyle/>
          <a:p>
            <a:pPr algn="ctr"/>
            <a:fld id="{AED8A0EF-F5B4-4572-888B-A40037D59371}" type="slidenum">
              <a:rPr kumimoji="1" lang="ja-JP" altLang="en-US" smtClean="0"/>
              <a:pPr algn="ctr"/>
              <a:t>3</a:t>
            </a:fld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5908" y="644235"/>
            <a:ext cx="90093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 smtClean="0"/>
              <a:t>REST(</a:t>
            </a:r>
            <a:r>
              <a:rPr lang="en-US" altLang="ja-JP" sz="1600" b="1" dirty="0" err="1" smtClean="0"/>
              <a:t>RE</a:t>
            </a:r>
            <a:r>
              <a:rPr lang="en-US" altLang="ja-JP" sz="1600" dirty="0" err="1" smtClean="0"/>
              <a:t>presentational</a:t>
            </a:r>
            <a:r>
              <a:rPr lang="en-US" altLang="ja-JP" sz="1600" dirty="0" smtClean="0"/>
              <a:t> </a:t>
            </a:r>
            <a:r>
              <a:rPr lang="en-US" altLang="ja-JP" sz="1600" b="1" dirty="0" smtClean="0"/>
              <a:t>S</a:t>
            </a:r>
            <a:r>
              <a:rPr lang="en-US" altLang="ja-JP" sz="1600" dirty="0" smtClean="0"/>
              <a:t>tate </a:t>
            </a:r>
            <a:r>
              <a:rPr lang="en-US" altLang="ja-JP" sz="1600" b="1" dirty="0" smtClean="0"/>
              <a:t>T</a:t>
            </a:r>
            <a:r>
              <a:rPr lang="en-US" altLang="ja-JP" sz="1600" dirty="0" smtClean="0"/>
              <a:t>ransfer)</a:t>
            </a:r>
            <a:r>
              <a:rPr lang="ja-JP" altLang="en-US" sz="1600" dirty="0" smtClean="0"/>
              <a:t>は</a:t>
            </a:r>
            <a:r>
              <a:rPr lang="en-US" altLang="ja-JP" sz="1600" dirty="0" smtClean="0"/>
              <a:t>WEB API</a:t>
            </a:r>
            <a:r>
              <a:rPr lang="ja-JP" altLang="en-US" sz="1600" dirty="0" smtClean="0"/>
              <a:t>の設計モデルで、主に以下</a:t>
            </a:r>
            <a:r>
              <a:rPr lang="en-US" altLang="ja-JP" sz="1600" dirty="0" smtClean="0"/>
              <a:t>4</a:t>
            </a:r>
            <a:r>
              <a:rPr lang="ja-JP" altLang="en-US" sz="1600" dirty="0" err="1" smtClean="0"/>
              <a:t>つの</a:t>
            </a:r>
            <a:r>
              <a:rPr lang="ja-JP" altLang="en-US" sz="1600" dirty="0" smtClean="0"/>
              <a:t>設計思想から成り立つ</a:t>
            </a:r>
            <a:endParaRPr lang="en-US" altLang="ja-JP" sz="1600" dirty="0" smtClean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508000" y="1439570"/>
            <a:ext cx="6551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 smtClean="0"/>
              <a:t>サービスを利用する側とサービスを提供する側の通信がステートレスである事が必要</a:t>
            </a:r>
            <a:endParaRPr lang="en-US" altLang="ja-JP" sz="1400" dirty="0" smtClean="0"/>
          </a:p>
          <a:p>
            <a:r>
              <a:rPr kumimoji="1" lang="ja-JP" altLang="en-US" sz="1400" dirty="0" smtClean="0"/>
              <a:t>サービス提供側でセッションに情報を保持するような事はしない</a:t>
            </a:r>
            <a:endParaRPr kumimoji="1" lang="ja-JP" altLang="en-US" sz="14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508000" y="2418687"/>
            <a:ext cx="56238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 smtClean="0"/>
              <a:t>通信は</a:t>
            </a:r>
            <a:r>
              <a:rPr lang="en-US" altLang="ja-JP" sz="1400" dirty="0" smtClean="0"/>
              <a:t>HTTP/HTTPS</a:t>
            </a:r>
            <a:r>
              <a:rPr lang="ja-JP" altLang="en-US" sz="1400" dirty="0" smtClean="0"/>
              <a:t>で、</a:t>
            </a:r>
            <a:r>
              <a:rPr lang="en-US" altLang="ja-JP" sz="1400" dirty="0" smtClean="0"/>
              <a:t>URI</a:t>
            </a:r>
            <a:r>
              <a:rPr lang="ja-JP" altLang="en-US" sz="1400" dirty="0" smtClean="0"/>
              <a:t>は操作対象のリソースを識別できるようにする</a:t>
            </a:r>
            <a:endParaRPr kumimoji="1" lang="ja-JP" altLang="en-US" sz="14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08000" y="3257882"/>
            <a:ext cx="766196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/>
              <a:t>インターフェースは統一</a:t>
            </a:r>
            <a:r>
              <a:rPr lang="ja-JP" altLang="en-US" sz="1400" dirty="0" smtClean="0"/>
              <a:t>されたものとする</a:t>
            </a:r>
            <a:endParaRPr lang="en-US" altLang="ja-JP" sz="1400" dirty="0" smtClean="0"/>
          </a:p>
          <a:p>
            <a:r>
              <a:rPr lang="ja-JP" altLang="en-US" sz="1400" dirty="0" smtClean="0"/>
              <a:t>データ操作種別</a:t>
            </a:r>
            <a:r>
              <a:rPr lang="en-US" altLang="ja-JP" sz="1400" dirty="0" smtClean="0"/>
              <a:t>(CRUD)</a:t>
            </a:r>
            <a:r>
              <a:rPr lang="ja-JP" altLang="en-US" sz="1400" dirty="0" smtClean="0"/>
              <a:t>を</a:t>
            </a:r>
            <a:r>
              <a:rPr lang="en-US" altLang="ja-JP" sz="1400" dirty="0" smtClean="0"/>
              <a:t>HTTP</a:t>
            </a:r>
            <a:r>
              <a:rPr lang="ja-JP" altLang="en-US" sz="1400" dirty="0" smtClean="0"/>
              <a:t>メソッドで表す。</a:t>
            </a:r>
            <a:endParaRPr lang="en-US" altLang="ja-JP" sz="1400" dirty="0" smtClean="0"/>
          </a:p>
          <a:p>
            <a:r>
              <a:rPr kumimoji="1" lang="ja-JP" altLang="en-US" sz="1400" dirty="0" smtClean="0"/>
              <a:t>⇒</a:t>
            </a:r>
            <a:r>
              <a:rPr kumimoji="1" lang="en-US" altLang="ja-JP" sz="1400" dirty="0" smtClean="0"/>
              <a:t>CREATE</a:t>
            </a:r>
            <a:r>
              <a:rPr kumimoji="1" lang="ja-JP" altLang="en-US" sz="1400" dirty="0" smtClean="0"/>
              <a:t>が</a:t>
            </a:r>
            <a:r>
              <a:rPr kumimoji="1" lang="en-US" altLang="ja-JP" sz="1400" dirty="0" smtClean="0"/>
              <a:t>PUT</a:t>
            </a:r>
            <a:r>
              <a:rPr kumimoji="1" lang="ja-JP" altLang="en-US" sz="1400" dirty="0" smtClean="0"/>
              <a:t>メソッド、</a:t>
            </a:r>
            <a:r>
              <a:rPr lang="en-US" altLang="ja-JP" sz="1400" dirty="0" smtClean="0"/>
              <a:t>READ</a:t>
            </a:r>
            <a:r>
              <a:rPr lang="ja-JP" altLang="en-US" sz="1400" dirty="0" smtClean="0"/>
              <a:t>が</a:t>
            </a:r>
            <a:r>
              <a:rPr lang="en-US" altLang="ja-JP" sz="1400" dirty="0" smtClean="0"/>
              <a:t>GET</a:t>
            </a:r>
            <a:r>
              <a:rPr lang="ja-JP" altLang="en-US" sz="1400" dirty="0" smtClean="0"/>
              <a:t>メソッド、</a:t>
            </a:r>
            <a:r>
              <a:rPr lang="en-US" altLang="ja-JP" sz="1400" dirty="0" smtClean="0"/>
              <a:t>UPDATE</a:t>
            </a:r>
            <a:r>
              <a:rPr lang="ja-JP" altLang="en-US" sz="1400" dirty="0" smtClean="0"/>
              <a:t>が</a:t>
            </a:r>
            <a:r>
              <a:rPr lang="en-US" altLang="ja-JP" sz="1400" dirty="0" smtClean="0"/>
              <a:t>POST/PATCH</a:t>
            </a:r>
            <a:r>
              <a:rPr lang="ja-JP" altLang="en-US" sz="1400" dirty="0" smtClean="0"/>
              <a:t>メソッド、</a:t>
            </a:r>
            <a:r>
              <a:rPr lang="en-US" altLang="ja-JP" sz="1400" dirty="0" smtClean="0"/>
              <a:t>DELETE</a:t>
            </a:r>
            <a:r>
              <a:rPr lang="ja-JP" altLang="en-US" sz="1400" dirty="0" smtClean="0"/>
              <a:t>が</a:t>
            </a:r>
            <a:r>
              <a:rPr lang="en-US" altLang="ja-JP" sz="1400" dirty="0" smtClean="0"/>
              <a:t>DELETE</a:t>
            </a:r>
            <a:r>
              <a:rPr lang="ja-JP" altLang="en-US" sz="1400" dirty="0" smtClean="0"/>
              <a:t>メソッド</a:t>
            </a:r>
            <a:endParaRPr kumimoji="1" lang="ja-JP" altLang="en-US" sz="1400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508000" y="4495597"/>
            <a:ext cx="6492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 smtClean="0"/>
              <a:t>やり取りする情報を</a:t>
            </a:r>
            <a:r>
              <a:rPr lang="en-US" altLang="ja-JP" sz="1400" dirty="0" smtClean="0"/>
              <a:t>HTML</a:t>
            </a:r>
            <a:r>
              <a:rPr lang="ja-JP" altLang="en-US" sz="1400" dirty="0" smtClean="0"/>
              <a:t>や</a:t>
            </a:r>
            <a:r>
              <a:rPr lang="en-US" altLang="ja-JP" sz="1400" dirty="0" smtClean="0"/>
              <a:t>XML</a:t>
            </a:r>
            <a:r>
              <a:rPr lang="ja-JP" altLang="en-US" sz="1400" dirty="0" err="1" smtClean="0"/>
              <a:t>、</a:t>
            </a:r>
            <a:r>
              <a:rPr lang="en-US" altLang="ja-JP" sz="1400" dirty="0" smtClean="0"/>
              <a:t>JSON</a:t>
            </a:r>
            <a:r>
              <a:rPr lang="ja-JP" altLang="en-US" sz="1400" dirty="0" smtClean="0"/>
              <a:t>といったハイパーメディア的な書式で表現する</a:t>
            </a:r>
            <a:endParaRPr kumimoji="1" lang="ja-JP" altLang="en-US" sz="1400" dirty="0"/>
          </a:p>
        </p:txBody>
      </p:sp>
      <p:sp>
        <p:nvSpPr>
          <p:cNvPr id="10" name="正方形/長方形 9"/>
          <p:cNvSpPr/>
          <p:nvPr/>
        </p:nvSpPr>
        <p:spPr>
          <a:xfrm>
            <a:off x="225907" y="1007770"/>
            <a:ext cx="10193769" cy="3627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600" dirty="0"/>
              <a:t>1</a:t>
            </a:r>
            <a:r>
              <a:rPr lang="ja-JP" altLang="en-US" sz="1600" dirty="0" err="1"/>
              <a:t>．</a:t>
            </a:r>
            <a:r>
              <a:rPr lang="ja-JP" altLang="en-US" sz="1600" dirty="0"/>
              <a:t>スレートレスである事</a:t>
            </a:r>
            <a:endParaRPr lang="ja-JP" altLang="en-US" sz="1600" dirty="0"/>
          </a:p>
        </p:txBody>
      </p:sp>
      <p:sp>
        <p:nvSpPr>
          <p:cNvPr id="11" name="正方形/長方形 10"/>
          <p:cNvSpPr/>
          <p:nvPr/>
        </p:nvSpPr>
        <p:spPr>
          <a:xfrm>
            <a:off x="225907" y="1985670"/>
            <a:ext cx="10193769" cy="3627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600" dirty="0"/>
              <a:t>2</a:t>
            </a:r>
            <a:r>
              <a:rPr lang="ja-JP" altLang="en-US" sz="1600" dirty="0" err="1" smtClean="0"/>
              <a:t>．</a:t>
            </a:r>
            <a:r>
              <a:rPr lang="ja-JP" altLang="en-US" sz="1600" dirty="0"/>
              <a:t>すべての構文は汎用的な構文で一言に識別</a:t>
            </a:r>
            <a:r>
              <a:rPr lang="ja-JP" altLang="en-US" sz="1600" dirty="0" smtClean="0"/>
              <a:t>される</a:t>
            </a:r>
            <a:endParaRPr lang="ja-JP" altLang="en-US" sz="1600" dirty="0"/>
          </a:p>
        </p:txBody>
      </p:sp>
      <p:sp>
        <p:nvSpPr>
          <p:cNvPr id="12" name="正方形/長方形 11"/>
          <p:cNvSpPr/>
          <p:nvPr/>
        </p:nvSpPr>
        <p:spPr>
          <a:xfrm>
            <a:off x="225907" y="2823870"/>
            <a:ext cx="10193769" cy="3627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600" dirty="0" smtClean="0"/>
              <a:t>3</a:t>
            </a:r>
            <a:r>
              <a:rPr lang="ja-JP" altLang="en-US" sz="1600" dirty="0" err="1" smtClean="0"/>
              <a:t>．</a:t>
            </a:r>
            <a:r>
              <a:rPr lang="ja-JP" altLang="en-US" sz="1600" dirty="0"/>
              <a:t>情報を操作する命令の体系が予め定義・共有されてる</a:t>
            </a:r>
            <a:endParaRPr lang="ja-JP" altLang="en-US" sz="1600" dirty="0"/>
          </a:p>
        </p:txBody>
      </p:sp>
      <p:sp>
        <p:nvSpPr>
          <p:cNvPr id="13" name="正方形/長方形 12"/>
          <p:cNvSpPr/>
          <p:nvPr/>
        </p:nvSpPr>
        <p:spPr>
          <a:xfrm>
            <a:off x="225907" y="4044362"/>
            <a:ext cx="10193769" cy="3627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600" dirty="0"/>
              <a:t>4</a:t>
            </a:r>
            <a:r>
              <a:rPr lang="ja-JP" altLang="en-US" sz="1600" dirty="0" err="1" smtClean="0"/>
              <a:t>．</a:t>
            </a:r>
            <a:r>
              <a:rPr lang="ja-JP" altLang="en-US" sz="1600" dirty="0" smtClean="0"/>
              <a:t>情報の内部に、別の情報や状態へのリンクを含める事ができる</a:t>
            </a:r>
            <a:endParaRPr lang="ja-JP" altLang="en-US" sz="1600" dirty="0"/>
          </a:p>
        </p:txBody>
      </p:sp>
      <p:sp>
        <p:nvSpPr>
          <p:cNvPr id="14" name="正方形/長方形 13"/>
          <p:cNvSpPr/>
          <p:nvPr/>
        </p:nvSpPr>
        <p:spPr>
          <a:xfrm>
            <a:off x="581508" y="6095841"/>
            <a:ext cx="1717192" cy="723901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00" dirty="0" smtClean="0"/>
              <a:t>サービス</a:t>
            </a:r>
            <a:endParaRPr lang="en-US" altLang="ja-JP" sz="1600" dirty="0" smtClean="0"/>
          </a:p>
          <a:p>
            <a:pPr algn="ctr"/>
            <a:r>
              <a:rPr kumimoji="1" lang="ja-JP" altLang="en-US" sz="1600" dirty="0" smtClean="0"/>
              <a:t>利用</a:t>
            </a:r>
            <a:r>
              <a:rPr kumimoji="1" lang="ja-JP" altLang="en-US" sz="1600" dirty="0"/>
              <a:t>側</a:t>
            </a:r>
          </a:p>
        </p:txBody>
      </p:sp>
      <p:sp>
        <p:nvSpPr>
          <p:cNvPr id="15" name="正方形/長方形 14"/>
          <p:cNvSpPr/>
          <p:nvPr/>
        </p:nvSpPr>
        <p:spPr>
          <a:xfrm>
            <a:off x="8112608" y="6108699"/>
            <a:ext cx="1717192" cy="723901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00" dirty="0" smtClean="0"/>
              <a:t>サービス</a:t>
            </a:r>
            <a:endParaRPr lang="en-US" altLang="ja-JP" sz="1600" dirty="0" smtClean="0"/>
          </a:p>
          <a:p>
            <a:pPr algn="ctr"/>
            <a:r>
              <a:rPr kumimoji="1" lang="ja-JP" altLang="en-US" sz="1600" dirty="0" smtClean="0"/>
              <a:t>提供</a:t>
            </a:r>
            <a:r>
              <a:rPr kumimoji="1" lang="ja-JP" altLang="en-US" sz="1600" dirty="0"/>
              <a:t>側</a:t>
            </a:r>
          </a:p>
        </p:txBody>
      </p:sp>
      <p:cxnSp>
        <p:nvCxnSpPr>
          <p:cNvPr id="17" name="直線矢印コネクタ 16"/>
          <p:cNvCxnSpPr/>
          <p:nvPr/>
        </p:nvCxnSpPr>
        <p:spPr>
          <a:xfrm>
            <a:off x="2298700" y="6342535"/>
            <a:ext cx="5813908" cy="12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/>
          <p:cNvCxnSpPr/>
          <p:nvPr/>
        </p:nvCxnSpPr>
        <p:spPr>
          <a:xfrm flipH="1" flipV="1">
            <a:off x="2321174" y="6484934"/>
            <a:ext cx="5813908" cy="12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/>
          <p:cNvSpPr txBox="1"/>
          <p:nvPr/>
        </p:nvSpPr>
        <p:spPr>
          <a:xfrm>
            <a:off x="211540" y="5014172"/>
            <a:ext cx="22493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b="1" u="sng" dirty="0" smtClean="0"/>
              <a:t>システムイメージ構成図</a:t>
            </a:r>
            <a:endParaRPr lang="en-US" altLang="ja-JP" sz="1600" b="1" u="sng" dirty="0" smtClean="0"/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581508" y="5416506"/>
            <a:ext cx="66089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 smtClean="0"/>
              <a:t>URI</a:t>
            </a:r>
            <a:r>
              <a:rPr lang="ja-JP" altLang="en-US" sz="1400" dirty="0" smtClean="0"/>
              <a:t>は</a:t>
            </a:r>
            <a:r>
              <a:rPr lang="en-US" altLang="ja-JP" sz="1400" dirty="0" smtClean="0">
                <a:hlinkClick r:id="rId3"/>
              </a:rPr>
              <a:t>http://xxxxxx.com/</a:t>
            </a:r>
            <a:r>
              <a:rPr lang="en-US" altLang="ja-JP" sz="1400" dirty="0" smtClean="0"/>
              <a:t>aaa/create</a:t>
            </a:r>
            <a:r>
              <a:rPr lang="ja-JP" altLang="en-US" sz="1400" dirty="0" err="1" smtClean="0"/>
              <a:t>のような</a:t>
            </a:r>
            <a:r>
              <a:rPr lang="ja-JP" altLang="en-US" sz="1400" dirty="0" smtClean="0"/>
              <a:t>形式で操作内容を一目で識別できるように</a:t>
            </a:r>
            <a:endParaRPr lang="en-US" altLang="ja-JP" sz="1400" dirty="0" smtClean="0"/>
          </a:p>
          <a:p>
            <a:r>
              <a:rPr kumimoji="1" lang="ja-JP" altLang="en-US" sz="1400" dirty="0" smtClean="0"/>
              <a:t>データ操作内容によって</a:t>
            </a:r>
            <a:r>
              <a:rPr kumimoji="1" lang="en-US" altLang="ja-JP" sz="1400" dirty="0" smtClean="0"/>
              <a:t>HTTP</a:t>
            </a:r>
            <a:r>
              <a:rPr kumimoji="1" lang="ja-JP" altLang="en-US" sz="1400" dirty="0" smtClean="0"/>
              <a:t>メソッドを選択する</a:t>
            </a:r>
            <a:endParaRPr kumimoji="1" lang="ja-JP" altLang="en-US" sz="1400" dirty="0"/>
          </a:p>
        </p:txBody>
      </p:sp>
      <p:sp>
        <p:nvSpPr>
          <p:cNvPr id="37" name="テキスト ボックス 36"/>
          <p:cNvSpPr txBox="1"/>
          <p:nvPr/>
        </p:nvSpPr>
        <p:spPr>
          <a:xfrm>
            <a:off x="7522730" y="5570394"/>
            <a:ext cx="28969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400" dirty="0" smtClean="0"/>
              <a:t>サービス提供側で情報を保持しない</a:t>
            </a:r>
            <a:endParaRPr kumimoji="1" lang="en-US" altLang="ja-JP" sz="1400" dirty="0" smtClean="0"/>
          </a:p>
          <a:p>
            <a:pPr algn="ctr"/>
            <a:r>
              <a:rPr lang="en-US" altLang="ja-JP" sz="1400" dirty="0" smtClean="0"/>
              <a:t>(</a:t>
            </a:r>
            <a:r>
              <a:rPr lang="ja-JP" altLang="en-US" sz="1400" dirty="0" smtClean="0"/>
              <a:t>ステーレス</a:t>
            </a:r>
            <a:r>
              <a:rPr lang="en-US" altLang="ja-JP" sz="1400" dirty="0" smtClean="0"/>
              <a:t>)</a:t>
            </a:r>
            <a:endParaRPr kumimoji="1" lang="ja-JP" altLang="en-US" sz="1400" dirty="0"/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2320760" y="5995123"/>
            <a:ext cx="47123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dirty="0" smtClean="0"/>
              <a:t>HTTP</a:t>
            </a:r>
            <a:r>
              <a:rPr kumimoji="1" lang="ja-JP" altLang="en-US" sz="1400" dirty="0" smtClean="0"/>
              <a:t>通信により</a:t>
            </a:r>
            <a:r>
              <a:rPr kumimoji="1" lang="en-US" altLang="ja-JP" sz="1400" dirty="0" smtClean="0"/>
              <a:t>HTML</a:t>
            </a:r>
            <a:r>
              <a:rPr kumimoji="1" lang="ja-JP" altLang="en-US" sz="1400" dirty="0" smtClean="0"/>
              <a:t>・</a:t>
            </a:r>
            <a:r>
              <a:rPr kumimoji="1" lang="en-US" altLang="ja-JP" sz="1400" dirty="0" smtClean="0"/>
              <a:t>XML</a:t>
            </a:r>
            <a:r>
              <a:rPr kumimoji="1" lang="ja-JP" altLang="en-US" sz="1400" dirty="0" smtClean="0"/>
              <a:t>・</a:t>
            </a:r>
            <a:r>
              <a:rPr kumimoji="1" lang="en-US" altLang="ja-JP" sz="1400" dirty="0" smtClean="0"/>
              <a:t>JSON</a:t>
            </a:r>
            <a:r>
              <a:rPr lang="ja-JP" altLang="en-US" sz="1400" dirty="0" smtClean="0"/>
              <a:t>形式で情報をやり取り送信</a:t>
            </a:r>
            <a:endParaRPr kumimoji="1" lang="ja-JP" altLang="en-US" sz="1400" dirty="0"/>
          </a:p>
        </p:txBody>
      </p:sp>
      <p:sp>
        <p:nvSpPr>
          <p:cNvPr id="39" name="テキスト ボックス 38"/>
          <p:cNvSpPr txBox="1"/>
          <p:nvPr/>
        </p:nvSpPr>
        <p:spPr>
          <a:xfrm>
            <a:off x="2287422" y="6590251"/>
            <a:ext cx="41601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1400" dirty="0" smtClean="0"/>
              <a:t>レスポンスには</a:t>
            </a:r>
            <a:r>
              <a:rPr lang="en-US" altLang="ja-JP" sz="1400" dirty="0"/>
              <a:t>HTML</a:t>
            </a:r>
            <a:r>
              <a:rPr lang="ja-JP" altLang="en-US" sz="1400" dirty="0"/>
              <a:t>・</a:t>
            </a:r>
            <a:r>
              <a:rPr lang="en-US" altLang="ja-JP" sz="1400" dirty="0"/>
              <a:t>XML</a:t>
            </a:r>
            <a:r>
              <a:rPr lang="ja-JP" altLang="en-US" sz="1400" dirty="0"/>
              <a:t>・</a:t>
            </a:r>
            <a:r>
              <a:rPr lang="en-US" altLang="ja-JP" sz="1400" dirty="0"/>
              <a:t>JSON</a:t>
            </a:r>
            <a:r>
              <a:rPr lang="ja-JP" altLang="en-US" sz="1400" dirty="0" smtClean="0"/>
              <a:t>形式の情報に含め</a:t>
            </a:r>
            <a:endParaRPr lang="en-US" altLang="ja-JP" sz="1400" dirty="0" smtClean="0"/>
          </a:p>
          <a:p>
            <a:r>
              <a:rPr lang="ja-JP" altLang="en-US" sz="1400" dirty="0" smtClean="0"/>
              <a:t>処理結果を</a:t>
            </a:r>
            <a:r>
              <a:rPr lang="en-US" altLang="ja-JP" sz="1400" dirty="0" smtClean="0"/>
              <a:t>HTTP</a:t>
            </a:r>
            <a:r>
              <a:rPr lang="ja-JP" altLang="en-US" sz="1400" dirty="0" smtClean="0"/>
              <a:t>ステータスコードを返却する</a:t>
            </a:r>
            <a:endParaRPr kumimoji="1" lang="ja-JP" altLang="en-US" sz="1400" dirty="0"/>
          </a:p>
        </p:txBody>
      </p:sp>
      <p:sp>
        <p:nvSpPr>
          <p:cNvPr id="42" name="正方形/長方形 41"/>
          <p:cNvSpPr/>
          <p:nvPr/>
        </p:nvSpPr>
        <p:spPr>
          <a:xfrm>
            <a:off x="249211" y="5001556"/>
            <a:ext cx="10170466" cy="215563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728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25908" y="41564"/>
            <a:ext cx="9221689" cy="463390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ja-JP" sz="2800" b="1" u="sng" dirty="0" smtClean="0">
                <a:solidFill>
                  <a:schemeClr val="bg1"/>
                </a:solidFill>
                <a:latin typeface="+mj-ea"/>
              </a:rPr>
              <a:t>REST </a:t>
            </a:r>
            <a:r>
              <a:rPr lang="en-US" altLang="ja-JP" sz="2800" b="1" u="sng" dirty="0" smtClean="0">
                <a:solidFill>
                  <a:schemeClr val="bg1"/>
                </a:solidFill>
                <a:latin typeface="+mj-ea"/>
              </a:rPr>
              <a:t>API(2/2)</a:t>
            </a:r>
            <a:endParaRPr lang="en-US" altLang="ja-JP" sz="2800" u="sng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4143077" y="7157192"/>
            <a:ext cx="2405658" cy="402483"/>
          </a:xfrm>
        </p:spPr>
        <p:txBody>
          <a:bodyPr/>
          <a:lstStyle/>
          <a:p>
            <a:pPr algn="ctr"/>
            <a:fld id="{AED8A0EF-F5B4-4572-888B-A40037D59371}" type="slidenum">
              <a:rPr kumimoji="1" lang="ja-JP" altLang="en-US" smtClean="0"/>
              <a:pPr algn="ctr"/>
              <a:t>4</a:t>
            </a:fld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01338" y="1039862"/>
            <a:ext cx="1004916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b="1" u="sng" dirty="0" smtClean="0"/>
              <a:t>REST</a:t>
            </a:r>
            <a:r>
              <a:rPr lang="ja-JP" altLang="en-US" b="1" u="sng" dirty="0" smtClean="0"/>
              <a:t>特徴</a:t>
            </a:r>
            <a:endParaRPr lang="en-US" altLang="ja-JP" b="1" u="sng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01338" y="3009621"/>
            <a:ext cx="1004916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b="1" u="sng" dirty="0" smtClean="0"/>
              <a:t>REST</a:t>
            </a:r>
            <a:r>
              <a:rPr lang="ja-JP" altLang="en-US" b="1" u="sng" dirty="0" smtClean="0"/>
              <a:t>のメリット</a:t>
            </a:r>
            <a:endParaRPr lang="en-US" altLang="ja-JP" b="1" u="sng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21325" y="4818101"/>
            <a:ext cx="1004916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b="1" u="sng" dirty="0" smtClean="0"/>
              <a:t>REST</a:t>
            </a:r>
            <a:r>
              <a:rPr lang="ja-JP" altLang="en-US" b="1" u="sng" dirty="0" smtClean="0"/>
              <a:t>の</a:t>
            </a:r>
            <a:r>
              <a:rPr lang="ja-JP" altLang="en-US" b="1" u="sng" dirty="0"/>
              <a:t>デメリット</a:t>
            </a:r>
            <a:endParaRPr lang="en-US" altLang="ja-JP" b="1" u="sng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225908" y="644235"/>
            <a:ext cx="46135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 smtClean="0"/>
              <a:t>REST</a:t>
            </a:r>
            <a:r>
              <a:rPr lang="ja-JP" altLang="en-US" sz="1600" dirty="0" smtClean="0"/>
              <a:t>の特徴・メリット・デメリットは以下の通りとなる。</a:t>
            </a:r>
            <a:endParaRPr lang="en-US" altLang="ja-JP" sz="1600" dirty="0" smtClean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558800" y="1574770"/>
            <a:ext cx="629050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 smtClean="0"/>
              <a:t>■クライアント・サーバー形式でシステムを構築する</a:t>
            </a:r>
            <a:endParaRPr lang="en-US" altLang="ja-JP" sz="1600" dirty="0" smtClean="0"/>
          </a:p>
          <a:p>
            <a:r>
              <a:rPr lang="ja-JP" altLang="en-US" sz="1600" dirty="0"/>
              <a:t>■レイヤー化された</a:t>
            </a:r>
            <a:r>
              <a:rPr lang="ja-JP" altLang="en-US" sz="1600" dirty="0" smtClean="0"/>
              <a:t>システム</a:t>
            </a:r>
            <a:endParaRPr lang="en-US" altLang="ja-JP" sz="1600" dirty="0" smtClean="0"/>
          </a:p>
          <a:p>
            <a:r>
              <a:rPr lang="ja-JP" altLang="en-US" sz="1600" dirty="0"/>
              <a:t>　</a:t>
            </a:r>
            <a:r>
              <a:rPr lang="ja-JP" altLang="en-US" sz="1600" dirty="0" smtClean="0"/>
              <a:t>　⇒</a:t>
            </a:r>
            <a:endParaRPr kumimoji="1" lang="en-US" altLang="ja-JP" sz="1600" dirty="0" smtClean="0"/>
          </a:p>
          <a:p>
            <a:r>
              <a:rPr kumimoji="1" lang="ja-JP" altLang="en-US" sz="1600" dirty="0" smtClean="0"/>
              <a:t>■サービス利用側がサービス提供側の開発言語に依存しない</a:t>
            </a:r>
            <a:endParaRPr kumimoji="1" lang="en-US" altLang="ja-JP" sz="1600" dirty="0" smtClean="0"/>
          </a:p>
          <a:p>
            <a:r>
              <a:rPr kumimoji="1" lang="ja-JP" altLang="en-US" sz="1600" dirty="0" smtClean="0"/>
              <a:t>　　⇒サービス利用側</a:t>
            </a:r>
            <a:r>
              <a:rPr kumimoji="1" lang="en-US" altLang="ja-JP" sz="1600" dirty="0" smtClean="0"/>
              <a:t>(</a:t>
            </a:r>
            <a:r>
              <a:rPr kumimoji="1" lang="ja-JP" altLang="en-US" sz="1600" dirty="0" smtClean="0"/>
              <a:t>クライアント</a:t>
            </a:r>
            <a:r>
              <a:rPr kumimoji="1" lang="en-US" altLang="ja-JP" sz="1600" dirty="0" smtClean="0"/>
              <a:t>)</a:t>
            </a:r>
            <a:r>
              <a:rPr kumimoji="1" lang="ja-JP" altLang="en-US" sz="1600" dirty="0" err="1" smtClean="0"/>
              <a:t>の開</a:t>
            </a:r>
            <a:r>
              <a:rPr kumimoji="1" lang="ja-JP" altLang="en-US" sz="1600" dirty="0" smtClean="0"/>
              <a:t>発言語を制限しない作りが可能</a:t>
            </a:r>
            <a:endParaRPr kumimoji="1" lang="ja-JP" altLang="en-US" sz="1600" dirty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558799" y="3544529"/>
            <a:ext cx="4828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 smtClean="0"/>
              <a:t>■開発言語に依存しない</a:t>
            </a:r>
            <a:endParaRPr lang="en-US" altLang="ja-JP" sz="1600" dirty="0" smtClean="0"/>
          </a:p>
          <a:p>
            <a:r>
              <a:rPr lang="ja-JP" altLang="en-US" sz="1600" dirty="0" smtClean="0"/>
              <a:t>■汎用的なプロトコル・データフォーマットを使用できる</a:t>
            </a:r>
            <a:endParaRPr lang="en-US" altLang="ja-JP" sz="1600" dirty="0" smtClean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558799" y="5291455"/>
            <a:ext cx="68371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 smtClean="0"/>
              <a:t>■プロトコル・言語・規約ではないので実装方針が統一かされていない</a:t>
            </a:r>
            <a:endParaRPr lang="en-US" altLang="ja-JP" sz="1600" dirty="0" smtClean="0"/>
          </a:p>
          <a:p>
            <a:r>
              <a:rPr lang="ja-JP" altLang="en-US" sz="1600" dirty="0"/>
              <a:t>　</a:t>
            </a:r>
            <a:r>
              <a:rPr lang="ja-JP" altLang="en-US" sz="1600" dirty="0" smtClean="0"/>
              <a:t>　⇒実装側で自由に決める事ができるが、自由過ぎる事がデメリットにもなる</a:t>
            </a:r>
            <a:endParaRPr lang="en-US" altLang="ja-JP" sz="1600" dirty="0" smtClean="0"/>
          </a:p>
        </p:txBody>
      </p:sp>
    </p:spTree>
    <p:extLst>
      <p:ext uri="{BB962C8B-B14F-4D97-AF65-F5344CB8AC3E}">
        <p14:creationId xmlns:p14="http://schemas.microsoft.com/office/powerpoint/2010/main" val="2640736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/>
          <p:cNvSpPr/>
          <p:nvPr/>
        </p:nvSpPr>
        <p:spPr>
          <a:xfrm>
            <a:off x="802976" y="1252638"/>
            <a:ext cx="9166523" cy="81274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/>
        </p:nvSpPr>
        <p:spPr>
          <a:xfrm>
            <a:off x="802976" y="2195818"/>
            <a:ext cx="9166523" cy="81274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40605" y="1642351"/>
            <a:ext cx="9221689" cy="463390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ja-JP" sz="2800" b="1" u="sng" dirty="0" err="1" smtClean="0">
                <a:solidFill>
                  <a:schemeClr val="bg1"/>
                </a:solidFill>
                <a:latin typeface="+mj-ea"/>
              </a:rPr>
              <a:t>GraphQL</a:t>
            </a:r>
            <a:r>
              <a:rPr lang="en-US" altLang="ja-JP" sz="2800" b="1" u="sng" dirty="0" smtClean="0">
                <a:solidFill>
                  <a:schemeClr val="bg1"/>
                </a:solidFill>
                <a:latin typeface="+mj-ea"/>
              </a:rPr>
              <a:t>(1/2</a:t>
            </a:r>
            <a:r>
              <a:rPr lang="en-US" altLang="ja-JP" sz="2800" u="sng" dirty="0" smtClean="0">
                <a:solidFill>
                  <a:schemeClr val="bg1"/>
                </a:solidFill>
                <a:latin typeface="+mj-ea"/>
              </a:rPr>
              <a:t>)</a:t>
            </a:r>
            <a:endParaRPr lang="en-US" altLang="ja-JP" sz="2800" u="sng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4143077" y="7157192"/>
            <a:ext cx="2405658" cy="402483"/>
          </a:xfrm>
        </p:spPr>
        <p:txBody>
          <a:bodyPr/>
          <a:lstStyle/>
          <a:p>
            <a:pPr algn="ctr"/>
            <a:fld id="{AED8A0EF-F5B4-4572-888B-A40037D59371}" type="slidenum">
              <a:rPr kumimoji="1" lang="ja-JP" altLang="en-US" smtClean="0"/>
              <a:pPr algn="ctr"/>
              <a:t>5</a:t>
            </a:fld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5908" y="644235"/>
            <a:ext cx="74874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 err="1" smtClean="0"/>
              <a:t>GraphQL</a:t>
            </a:r>
            <a:r>
              <a:rPr lang="ja-JP" altLang="en-US" sz="1400" dirty="0" smtClean="0"/>
              <a:t>は</a:t>
            </a:r>
            <a:r>
              <a:rPr lang="en-US" altLang="ja-JP" sz="1400" dirty="0" smtClean="0"/>
              <a:t>Facebook</a:t>
            </a:r>
            <a:r>
              <a:rPr lang="ja-JP" altLang="en-US" sz="1400" dirty="0" smtClean="0"/>
              <a:t>が開発した</a:t>
            </a:r>
            <a:r>
              <a:rPr lang="en-US" altLang="ja-JP" sz="1400" dirty="0" smtClean="0"/>
              <a:t>API</a:t>
            </a:r>
            <a:r>
              <a:rPr lang="ja-JP" altLang="en-US" sz="1400" dirty="0" smtClean="0"/>
              <a:t>実装のための規格でクエリ言語とスキーマ言語から構成される</a:t>
            </a:r>
            <a:endParaRPr lang="en-US" altLang="ja-JP" sz="1400" dirty="0" smtClean="0"/>
          </a:p>
        </p:txBody>
      </p:sp>
      <p:sp>
        <p:nvSpPr>
          <p:cNvPr id="6" name="正方形/長方形 5"/>
          <p:cNvSpPr/>
          <p:nvPr/>
        </p:nvSpPr>
        <p:spPr>
          <a:xfrm>
            <a:off x="225907" y="1071270"/>
            <a:ext cx="1628293" cy="3627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 smtClean="0"/>
              <a:t>クエリ</a:t>
            </a:r>
            <a:r>
              <a:rPr lang="ja-JP" altLang="en-US" sz="1600" dirty="0"/>
              <a:t>言語</a:t>
            </a:r>
            <a:endParaRPr lang="ja-JP" altLang="en-US" sz="1600" dirty="0"/>
          </a:p>
        </p:txBody>
      </p:sp>
      <p:sp>
        <p:nvSpPr>
          <p:cNvPr id="7" name="正方形/長方形 6"/>
          <p:cNvSpPr/>
          <p:nvPr/>
        </p:nvSpPr>
        <p:spPr>
          <a:xfrm>
            <a:off x="225907" y="2088130"/>
            <a:ext cx="1628293" cy="3627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 smtClean="0"/>
              <a:t>スキーマ</a:t>
            </a:r>
            <a:r>
              <a:rPr lang="ja-JP" altLang="en-US" sz="1600" dirty="0"/>
              <a:t>言語</a:t>
            </a:r>
            <a:endParaRPr lang="ja-JP" altLang="en-US" sz="16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235485" y="5742398"/>
            <a:ext cx="24564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b="1" u="sng" dirty="0" smtClean="0"/>
              <a:t>システムイメージ</a:t>
            </a:r>
            <a:r>
              <a:rPr lang="ja-JP" altLang="en-US" sz="1600" b="1" u="sng" dirty="0" smtClean="0"/>
              <a:t>構成図</a:t>
            </a:r>
            <a:endParaRPr lang="en-US" altLang="ja-JP" sz="1600" b="1" u="sng" dirty="0" smtClean="0"/>
          </a:p>
        </p:txBody>
      </p:sp>
      <p:sp>
        <p:nvSpPr>
          <p:cNvPr id="10" name="正方形/長方形 9"/>
          <p:cNvSpPr/>
          <p:nvPr/>
        </p:nvSpPr>
        <p:spPr>
          <a:xfrm>
            <a:off x="334706" y="3990547"/>
            <a:ext cx="1601233" cy="1650064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ja-JP" sz="1200" dirty="0" smtClean="0">
              <a:solidFill>
                <a:schemeClr val="tx1"/>
              </a:solidFill>
            </a:endParaRPr>
          </a:p>
          <a:p>
            <a:endParaRPr lang="en-US" altLang="ja-JP" sz="1200" dirty="0" smtClean="0">
              <a:solidFill>
                <a:schemeClr val="tx1"/>
              </a:solidFill>
            </a:endParaRPr>
          </a:p>
          <a:p>
            <a:r>
              <a:rPr lang="en-US" altLang="ja-JP" sz="1200" dirty="0">
                <a:solidFill>
                  <a:schemeClr val="tx1"/>
                </a:solidFill>
              </a:rPr>
              <a:t>t</a:t>
            </a:r>
            <a:r>
              <a:rPr lang="en-US" altLang="ja-JP" sz="1200" dirty="0" smtClean="0">
                <a:solidFill>
                  <a:schemeClr val="tx1"/>
                </a:solidFill>
              </a:rPr>
              <a:t>ype Query{</a:t>
            </a:r>
          </a:p>
          <a:p>
            <a:r>
              <a:rPr lang="en-US" altLang="ja-JP" sz="1200" dirty="0" smtClean="0">
                <a:solidFill>
                  <a:schemeClr val="tx1"/>
                </a:solidFill>
              </a:rPr>
              <a:t>  </a:t>
            </a:r>
            <a:r>
              <a:rPr lang="en-US" altLang="ja-JP" sz="1200" dirty="0" err="1" smtClean="0">
                <a:solidFill>
                  <a:schemeClr val="tx1"/>
                </a:solidFill>
              </a:rPr>
              <a:t>currentUser:User</a:t>
            </a:r>
            <a:r>
              <a:rPr lang="en-US" altLang="ja-JP" sz="1200" dirty="0" smtClean="0">
                <a:solidFill>
                  <a:schemeClr val="tx1"/>
                </a:solidFill>
              </a:rPr>
              <a:t>!</a:t>
            </a:r>
            <a:endParaRPr lang="en-US" altLang="ja-JP" sz="1200" dirty="0">
              <a:solidFill>
                <a:schemeClr val="tx1"/>
              </a:solidFill>
            </a:endParaRPr>
          </a:p>
          <a:p>
            <a:r>
              <a:rPr lang="en-US" altLang="ja-JP" sz="1200" dirty="0" smtClean="0">
                <a:solidFill>
                  <a:schemeClr val="tx1"/>
                </a:solidFill>
              </a:rPr>
              <a:t>}</a:t>
            </a:r>
          </a:p>
          <a:p>
            <a:endParaRPr lang="en-US" altLang="ja-JP" sz="1200" dirty="0">
              <a:solidFill>
                <a:schemeClr val="tx1"/>
              </a:solidFill>
            </a:endParaRPr>
          </a:p>
          <a:p>
            <a:r>
              <a:rPr lang="en-US" altLang="ja-JP" sz="1200" dirty="0" smtClean="0">
                <a:solidFill>
                  <a:schemeClr val="tx1"/>
                </a:solidFill>
              </a:rPr>
              <a:t>type User {</a:t>
            </a:r>
          </a:p>
          <a:p>
            <a:r>
              <a:rPr lang="en-US" altLang="ja-JP" sz="1200" dirty="0" smtClean="0">
                <a:solidFill>
                  <a:schemeClr val="tx1"/>
                </a:solidFill>
              </a:rPr>
              <a:t>   id: ID!  </a:t>
            </a:r>
          </a:p>
          <a:p>
            <a:r>
              <a:rPr lang="en-US" altLang="ja-JP" sz="1200" dirty="0" smtClean="0">
                <a:solidFill>
                  <a:schemeClr val="tx1"/>
                </a:solidFill>
              </a:rPr>
              <a:t>  </a:t>
            </a:r>
            <a:r>
              <a:rPr lang="en-US" altLang="ja-JP" sz="1200" dirty="0" err="1" smtClean="0">
                <a:solidFill>
                  <a:schemeClr val="tx1"/>
                </a:solidFill>
              </a:rPr>
              <a:t>name:String</a:t>
            </a:r>
            <a:r>
              <a:rPr lang="en-US" altLang="ja-JP" sz="1200" dirty="0" smtClean="0">
                <a:solidFill>
                  <a:schemeClr val="tx1"/>
                </a:solidFill>
              </a:rPr>
              <a:t>!</a:t>
            </a:r>
            <a:endParaRPr lang="en-US" altLang="ja-JP" sz="1200" dirty="0">
              <a:solidFill>
                <a:schemeClr val="tx1"/>
              </a:solidFill>
            </a:endParaRPr>
          </a:p>
          <a:p>
            <a:r>
              <a:rPr lang="en-US" altLang="ja-JP" sz="1200" dirty="0" smtClean="0">
                <a:solidFill>
                  <a:schemeClr val="tx1"/>
                </a:solidFill>
              </a:rPr>
              <a:t>}</a:t>
            </a:r>
          </a:p>
          <a:p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867180" y="1488642"/>
            <a:ext cx="7087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 err="1" smtClean="0"/>
              <a:t>GraphQL</a:t>
            </a:r>
            <a:r>
              <a:rPr lang="en-US" altLang="ja-JP" sz="1400" dirty="0" smtClean="0"/>
              <a:t> API</a:t>
            </a:r>
            <a:r>
              <a:rPr lang="ja-JP" altLang="en-US" sz="1400" dirty="0" smtClean="0"/>
              <a:t>のリクエストのための言語で、データ取得系の</a:t>
            </a:r>
            <a:r>
              <a:rPr lang="en-US" altLang="ja-JP" sz="1400" dirty="0" smtClean="0"/>
              <a:t>query</a:t>
            </a:r>
            <a:r>
              <a:rPr lang="ja-JP" altLang="en-US" sz="1400" dirty="0" err="1" smtClean="0"/>
              <a:t>、</a:t>
            </a:r>
            <a:r>
              <a:rPr lang="ja-JP" altLang="en-US" sz="1400" dirty="0" smtClean="0"/>
              <a:t>データ更新</a:t>
            </a:r>
            <a:r>
              <a:rPr lang="ja-JP" altLang="en-US" sz="1400" dirty="0"/>
              <a:t>系</a:t>
            </a:r>
            <a:r>
              <a:rPr lang="ja-JP" altLang="en-US" sz="1400" dirty="0" smtClean="0"/>
              <a:t>の</a:t>
            </a:r>
            <a:r>
              <a:rPr lang="en-US" altLang="ja-JP" sz="1400" dirty="0" smtClean="0"/>
              <a:t>mutation</a:t>
            </a:r>
            <a:r>
              <a:rPr lang="ja-JP" altLang="en-US" sz="1400" dirty="0" err="1" smtClean="0"/>
              <a:t>、</a:t>
            </a:r>
            <a:endParaRPr lang="en-US" altLang="ja-JP" sz="1400" dirty="0" smtClean="0"/>
          </a:p>
          <a:p>
            <a:r>
              <a:rPr kumimoji="1" lang="ja-JP" altLang="en-US" sz="1400" dirty="0" smtClean="0"/>
              <a:t>サーバサイトからの通知の</a:t>
            </a:r>
            <a:r>
              <a:rPr kumimoji="1" lang="en-US" altLang="ja-JP" sz="1400" dirty="0" smtClean="0"/>
              <a:t>subscription</a:t>
            </a:r>
            <a:r>
              <a:rPr kumimoji="1" lang="ja-JP" altLang="en-US" sz="1400" dirty="0" smtClean="0"/>
              <a:t>の</a:t>
            </a:r>
            <a:r>
              <a:rPr kumimoji="1" lang="en-US" altLang="ja-JP" sz="1400" dirty="0" smtClean="0"/>
              <a:t>3</a:t>
            </a:r>
            <a:r>
              <a:rPr kumimoji="1" lang="ja-JP" altLang="en-US" sz="1400" dirty="0" smtClean="0"/>
              <a:t>階層がある</a:t>
            </a:r>
            <a:endParaRPr kumimoji="1" lang="ja-JP" altLang="en-US" sz="1400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879880" y="2485347"/>
            <a:ext cx="85871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 err="1" smtClean="0"/>
              <a:t>GraphQL</a:t>
            </a:r>
            <a:r>
              <a:rPr lang="en-US" altLang="ja-JP" sz="1400" dirty="0" smtClean="0"/>
              <a:t> API</a:t>
            </a:r>
            <a:r>
              <a:rPr lang="ja-JP" altLang="en-US" sz="1400" dirty="0" smtClean="0"/>
              <a:t>の</a:t>
            </a:r>
            <a:r>
              <a:rPr lang="en-US" altLang="ja-JP" sz="1400" dirty="0" smtClean="0"/>
              <a:t>API</a:t>
            </a:r>
            <a:r>
              <a:rPr lang="ja-JP" altLang="en-US" sz="1400" dirty="0" smtClean="0"/>
              <a:t>仕様を記述するための言語。</a:t>
            </a:r>
            <a:endParaRPr lang="en-US" altLang="ja-JP" sz="1400" dirty="0" smtClean="0"/>
          </a:p>
          <a:p>
            <a:r>
              <a:rPr kumimoji="1" lang="ja-JP" altLang="en-US" sz="1400" dirty="0" smtClean="0"/>
              <a:t>リクエストされたクエリ言語よりスキーマ言語で定義された</a:t>
            </a:r>
            <a:r>
              <a:rPr kumimoji="1" lang="en-US" altLang="ja-JP" sz="1400" dirty="0" err="1" smtClean="0"/>
              <a:t>GraphQL</a:t>
            </a:r>
            <a:r>
              <a:rPr kumimoji="1" lang="ja-JP" altLang="en-US" sz="1400" dirty="0" smtClean="0"/>
              <a:t>処理系により実行され、レスポンスを生成する</a:t>
            </a:r>
            <a:endParaRPr kumimoji="1" lang="ja-JP" altLang="en-US" sz="1400" dirty="0"/>
          </a:p>
        </p:txBody>
      </p:sp>
      <p:cxnSp>
        <p:nvCxnSpPr>
          <p:cNvPr id="14" name="直線コネクタ 13"/>
          <p:cNvCxnSpPr/>
          <p:nvPr/>
        </p:nvCxnSpPr>
        <p:spPr>
          <a:xfrm flipH="1">
            <a:off x="10605606" y="3636362"/>
            <a:ext cx="86207" cy="212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/>
          <p:cNvCxnSpPr/>
          <p:nvPr/>
        </p:nvCxnSpPr>
        <p:spPr>
          <a:xfrm>
            <a:off x="0" y="3208923"/>
            <a:ext cx="10502900" cy="127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/>
          <p:cNvSpPr txBox="1"/>
          <p:nvPr/>
        </p:nvSpPr>
        <p:spPr>
          <a:xfrm>
            <a:off x="235485" y="3323010"/>
            <a:ext cx="24564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b="1" u="sng" dirty="0" err="1" smtClean="0"/>
              <a:t>Gra</a:t>
            </a:r>
            <a:r>
              <a:rPr lang="en-US" altLang="ja-JP" sz="1600" b="1" u="sng" dirty="0" err="1" smtClean="0"/>
              <a:t>phQL</a:t>
            </a:r>
            <a:r>
              <a:rPr lang="ja-JP" altLang="en-US" sz="1600" b="1" u="sng" dirty="0" smtClean="0"/>
              <a:t>の例</a:t>
            </a:r>
            <a:endParaRPr lang="en-US" altLang="ja-JP" sz="1600" b="1" u="sng" dirty="0" smtClean="0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433156" y="3657721"/>
            <a:ext cx="12137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/>
              <a:t>スキーマ言語</a:t>
            </a:r>
            <a:endParaRPr kumimoji="1" lang="ja-JP" altLang="en-US" sz="1400" dirty="0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3653427" y="3646283"/>
            <a:ext cx="9829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 smtClean="0"/>
              <a:t>クエリ</a:t>
            </a:r>
            <a:r>
              <a:rPr kumimoji="1" lang="ja-JP" altLang="en-US" sz="1400" dirty="0" smtClean="0"/>
              <a:t>言語</a:t>
            </a:r>
            <a:endParaRPr kumimoji="1" lang="ja-JP" altLang="en-US" sz="1400" dirty="0"/>
          </a:p>
        </p:txBody>
      </p:sp>
      <p:sp>
        <p:nvSpPr>
          <p:cNvPr id="22" name="正方形/長方形 21"/>
          <p:cNvSpPr/>
          <p:nvPr/>
        </p:nvSpPr>
        <p:spPr>
          <a:xfrm>
            <a:off x="3509706" y="3990548"/>
            <a:ext cx="1367982" cy="1274930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ja-JP" sz="1200" dirty="0" smtClean="0">
              <a:solidFill>
                <a:schemeClr val="tx1"/>
              </a:solidFill>
            </a:endParaRPr>
          </a:p>
          <a:p>
            <a:r>
              <a:rPr lang="en-US" altLang="ja-JP" sz="1200" dirty="0" smtClean="0">
                <a:solidFill>
                  <a:schemeClr val="tx1"/>
                </a:solidFill>
              </a:rPr>
              <a:t>query {</a:t>
            </a:r>
          </a:p>
          <a:p>
            <a:r>
              <a:rPr lang="en-US" altLang="ja-JP" sz="1200" dirty="0" smtClean="0">
                <a:solidFill>
                  <a:schemeClr val="tx1"/>
                </a:solidFill>
              </a:rPr>
              <a:t>   </a:t>
            </a:r>
            <a:r>
              <a:rPr lang="en-US" altLang="ja-JP" sz="1200" dirty="0" err="1" smtClean="0">
                <a:solidFill>
                  <a:schemeClr val="tx1"/>
                </a:solidFill>
              </a:rPr>
              <a:t>currentUser</a:t>
            </a:r>
            <a:r>
              <a:rPr lang="en-US" altLang="ja-JP" sz="1200" dirty="0" smtClean="0">
                <a:solidFill>
                  <a:schemeClr val="tx1"/>
                </a:solidFill>
              </a:rPr>
              <a:t> {</a:t>
            </a:r>
          </a:p>
          <a:p>
            <a:r>
              <a:rPr lang="en-US" altLang="ja-JP" sz="1200" dirty="0" smtClean="0">
                <a:solidFill>
                  <a:schemeClr val="tx1"/>
                </a:solidFill>
              </a:rPr>
              <a:t>       id</a:t>
            </a:r>
          </a:p>
          <a:p>
            <a:r>
              <a:rPr lang="en-US" altLang="ja-JP" sz="1200" dirty="0">
                <a:solidFill>
                  <a:schemeClr val="tx1"/>
                </a:solidFill>
              </a:rPr>
              <a:t> </a:t>
            </a:r>
            <a:r>
              <a:rPr lang="en-US" altLang="ja-JP" sz="1200" dirty="0" smtClean="0">
                <a:solidFill>
                  <a:schemeClr val="tx1"/>
                </a:solidFill>
              </a:rPr>
              <a:t>      name</a:t>
            </a:r>
            <a:r>
              <a:rPr lang="en-US" altLang="ja-JP" sz="1200" dirty="0">
                <a:solidFill>
                  <a:schemeClr val="tx1"/>
                </a:solidFill>
              </a:rPr>
              <a:t>	</a:t>
            </a:r>
          </a:p>
          <a:p>
            <a:r>
              <a:rPr lang="en-US" altLang="ja-JP" sz="1200" dirty="0" smtClean="0">
                <a:solidFill>
                  <a:schemeClr val="tx1"/>
                </a:solidFill>
              </a:rPr>
              <a:t>   }</a:t>
            </a:r>
          </a:p>
          <a:p>
            <a:r>
              <a:rPr lang="en-US" altLang="ja-JP" sz="1200" dirty="0" smtClean="0">
                <a:solidFill>
                  <a:schemeClr val="tx1"/>
                </a:solidFill>
              </a:rPr>
              <a:t>}</a:t>
            </a:r>
          </a:p>
          <a:p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6434727" y="3646283"/>
            <a:ext cx="11673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 smtClean="0"/>
              <a:t>レスポンス</a:t>
            </a:r>
            <a:r>
              <a:rPr lang="ja-JP" altLang="en-US" sz="1400" dirty="0"/>
              <a:t>例</a:t>
            </a:r>
            <a:endParaRPr kumimoji="1" lang="ja-JP" altLang="en-US" sz="1400" dirty="0"/>
          </a:p>
        </p:txBody>
      </p:sp>
      <p:sp>
        <p:nvSpPr>
          <p:cNvPr id="24" name="正方形/長方形 23"/>
          <p:cNvSpPr/>
          <p:nvPr/>
        </p:nvSpPr>
        <p:spPr>
          <a:xfrm>
            <a:off x="6434726" y="3977848"/>
            <a:ext cx="2099673" cy="1751850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dirty="0" smtClean="0">
                <a:solidFill>
                  <a:schemeClr val="tx1"/>
                </a:solidFill>
              </a:rPr>
              <a:t>{</a:t>
            </a:r>
            <a:endParaRPr lang="en-US" altLang="ja-JP" sz="1200" dirty="0">
              <a:solidFill>
                <a:schemeClr val="tx1"/>
              </a:solidFill>
            </a:endParaRPr>
          </a:p>
          <a:p>
            <a:r>
              <a:rPr lang="en-US" altLang="ja-JP" sz="1200" dirty="0">
                <a:solidFill>
                  <a:schemeClr val="tx1"/>
                </a:solidFill>
              </a:rPr>
              <a:t>  "data": {</a:t>
            </a:r>
          </a:p>
          <a:p>
            <a:r>
              <a:rPr lang="en-US" altLang="ja-JP" sz="1200" dirty="0">
                <a:solidFill>
                  <a:schemeClr val="tx1"/>
                </a:solidFill>
              </a:rPr>
              <a:t>    "</a:t>
            </a:r>
            <a:r>
              <a:rPr lang="en-US" altLang="ja-JP" sz="1200" dirty="0" err="1">
                <a:solidFill>
                  <a:schemeClr val="tx1"/>
                </a:solidFill>
              </a:rPr>
              <a:t>currentUser</a:t>
            </a:r>
            <a:r>
              <a:rPr lang="en-US" altLang="ja-JP" sz="1200" dirty="0">
                <a:solidFill>
                  <a:schemeClr val="tx1"/>
                </a:solidFill>
              </a:rPr>
              <a:t>": {</a:t>
            </a:r>
          </a:p>
          <a:p>
            <a:r>
              <a:rPr lang="en-US" altLang="ja-JP" sz="1200" dirty="0">
                <a:solidFill>
                  <a:schemeClr val="tx1"/>
                </a:solidFill>
              </a:rPr>
              <a:t>      "id": "dXNlci80Mgo=",</a:t>
            </a:r>
          </a:p>
          <a:p>
            <a:r>
              <a:rPr lang="en-US" altLang="ja-JP" sz="1200" dirty="0">
                <a:solidFill>
                  <a:schemeClr val="tx1"/>
                </a:solidFill>
              </a:rPr>
              <a:t>      "name": "foo",</a:t>
            </a:r>
          </a:p>
          <a:p>
            <a:r>
              <a:rPr lang="en-US" altLang="ja-JP" sz="1200" dirty="0">
                <a:solidFill>
                  <a:schemeClr val="tx1"/>
                </a:solidFill>
              </a:rPr>
              <a:t>    }</a:t>
            </a:r>
          </a:p>
          <a:p>
            <a:r>
              <a:rPr lang="en-US" altLang="ja-JP" sz="1200" dirty="0">
                <a:solidFill>
                  <a:schemeClr val="tx1"/>
                </a:solidFill>
              </a:rPr>
              <a:t>  }</a:t>
            </a:r>
          </a:p>
          <a:p>
            <a:r>
              <a:rPr lang="en-US" altLang="ja-JP" sz="1200" dirty="0">
                <a:solidFill>
                  <a:schemeClr val="tx1"/>
                </a:solidFill>
              </a:rPr>
              <a:t>}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正方形/長方形 24"/>
          <p:cNvSpPr/>
          <p:nvPr/>
        </p:nvSpPr>
        <p:spPr>
          <a:xfrm>
            <a:off x="581508" y="6451441"/>
            <a:ext cx="1354431" cy="533401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400" dirty="0" smtClean="0"/>
              <a:t>サービス</a:t>
            </a:r>
            <a:endParaRPr lang="en-US" altLang="ja-JP" sz="1400" dirty="0" smtClean="0"/>
          </a:p>
          <a:p>
            <a:pPr algn="ctr"/>
            <a:r>
              <a:rPr kumimoji="1" lang="ja-JP" altLang="en-US" sz="1400" dirty="0" smtClean="0"/>
              <a:t>利用</a:t>
            </a:r>
            <a:r>
              <a:rPr kumimoji="1" lang="ja-JP" altLang="en-US" sz="1400" dirty="0"/>
              <a:t>側</a:t>
            </a:r>
          </a:p>
        </p:txBody>
      </p:sp>
      <p:sp>
        <p:nvSpPr>
          <p:cNvPr id="26" name="正方形/長方形 25"/>
          <p:cNvSpPr/>
          <p:nvPr/>
        </p:nvSpPr>
        <p:spPr>
          <a:xfrm>
            <a:off x="6982308" y="6464299"/>
            <a:ext cx="1354431" cy="533401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400" dirty="0" smtClean="0"/>
              <a:t>サービス</a:t>
            </a:r>
            <a:endParaRPr lang="en-US" altLang="ja-JP" sz="1400" dirty="0" smtClean="0"/>
          </a:p>
          <a:p>
            <a:pPr algn="ctr"/>
            <a:r>
              <a:rPr kumimoji="1" lang="ja-JP" altLang="en-US" sz="1400" dirty="0" smtClean="0"/>
              <a:t>提供</a:t>
            </a:r>
            <a:r>
              <a:rPr kumimoji="1" lang="ja-JP" altLang="en-US" sz="1400" dirty="0"/>
              <a:t>側</a:t>
            </a:r>
          </a:p>
        </p:txBody>
      </p:sp>
      <p:cxnSp>
        <p:nvCxnSpPr>
          <p:cNvPr id="27" name="直線矢印コネクタ 26"/>
          <p:cNvCxnSpPr/>
          <p:nvPr/>
        </p:nvCxnSpPr>
        <p:spPr>
          <a:xfrm>
            <a:off x="1981200" y="6698135"/>
            <a:ext cx="4965700" cy="328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/>
          <p:cNvCxnSpPr/>
          <p:nvPr/>
        </p:nvCxnSpPr>
        <p:spPr>
          <a:xfrm flipH="1" flipV="1">
            <a:off x="1981200" y="6889485"/>
            <a:ext cx="4965700" cy="6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/>
          <p:cNvSpPr txBox="1"/>
          <p:nvPr/>
        </p:nvSpPr>
        <p:spPr>
          <a:xfrm>
            <a:off x="469909" y="6119552"/>
            <a:ext cx="29346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smtClean="0"/>
              <a:t>URL</a:t>
            </a:r>
            <a:r>
              <a:rPr kumimoji="1" lang="ja-JP" altLang="en-US" sz="1400" dirty="0" smtClean="0"/>
              <a:t>は</a:t>
            </a:r>
            <a:r>
              <a:rPr kumimoji="1" lang="en-US" altLang="ja-JP" sz="1400" dirty="0" smtClean="0"/>
              <a:t>HTTP</a:t>
            </a:r>
            <a:r>
              <a:rPr lang="ja-JP" altLang="en-US" sz="1400" dirty="0"/>
              <a:t>で</a:t>
            </a:r>
            <a:r>
              <a:rPr lang="ja-JP" altLang="en-US" sz="1400" dirty="0" smtClean="0"/>
              <a:t>サービス利用側に公開</a:t>
            </a:r>
            <a:endParaRPr kumimoji="1" lang="ja-JP" altLang="en-US" sz="1400" dirty="0"/>
          </a:p>
        </p:txBody>
      </p:sp>
      <p:sp>
        <p:nvSpPr>
          <p:cNvPr id="32" name="テキスト ボックス 31"/>
          <p:cNvSpPr txBox="1"/>
          <p:nvPr/>
        </p:nvSpPr>
        <p:spPr>
          <a:xfrm>
            <a:off x="2541907" y="6377658"/>
            <a:ext cx="36695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 smtClean="0"/>
              <a:t>クエリをリクエストとしてサービス提供側に送信</a:t>
            </a:r>
            <a:endParaRPr kumimoji="1" lang="ja-JP" altLang="en-US" sz="1400" dirty="0"/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2543108" y="6946714"/>
            <a:ext cx="42659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 smtClean="0"/>
              <a:t>サービス提供側はレスポンスをサービス利用側に返却</a:t>
            </a:r>
            <a:endParaRPr kumimoji="1" lang="ja-JP" altLang="en-US" sz="1400" dirty="0"/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2040680" y="3990547"/>
            <a:ext cx="142378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t</a:t>
            </a:r>
            <a:r>
              <a:rPr kumimoji="1" lang="en-US" altLang="ja-JP" sz="1200" dirty="0" smtClean="0"/>
              <a:t>ype Query</a:t>
            </a:r>
            <a:r>
              <a:rPr kumimoji="1" lang="ja-JP" altLang="en-US" sz="1200" dirty="0" smtClean="0"/>
              <a:t>は</a:t>
            </a:r>
            <a:endParaRPr kumimoji="1" lang="en-US" altLang="ja-JP" sz="1200" dirty="0" smtClean="0"/>
          </a:p>
          <a:p>
            <a:r>
              <a:rPr kumimoji="1" lang="ja-JP" altLang="en-US" sz="1200" dirty="0" smtClean="0"/>
              <a:t>クエリ検索のルート</a:t>
            </a:r>
            <a:endParaRPr kumimoji="1" lang="en-US" altLang="ja-JP" sz="1200" dirty="0" smtClean="0"/>
          </a:p>
          <a:p>
            <a:endParaRPr lang="en-US" altLang="ja-JP" sz="1200" dirty="0"/>
          </a:p>
          <a:p>
            <a:r>
              <a:rPr lang="en-US" altLang="ja-JP" sz="1200" dirty="0"/>
              <a:t>t</a:t>
            </a:r>
            <a:r>
              <a:rPr kumimoji="1" lang="en-US" altLang="ja-JP" sz="1200" dirty="0" smtClean="0"/>
              <a:t>ype User</a:t>
            </a:r>
            <a:r>
              <a:rPr kumimoji="1" lang="ja-JP" altLang="en-US" sz="1200" dirty="0" smtClean="0"/>
              <a:t>の中に</a:t>
            </a:r>
            <a:endParaRPr kumimoji="1" lang="en-US" altLang="ja-JP" sz="1200" dirty="0" smtClean="0"/>
          </a:p>
          <a:p>
            <a:r>
              <a:rPr lang="en-US" altLang="ja-JP" sz="1200" dirty="0" smtClean="0"/>
              <a:t>Id</a:t>
            </a:r>
            <a:r>
              <a:rPr lang="ja-JP" altLang="en-US" sz="1200" dirty="0" smtClean="0"/>
              <a:t>と</a:t>
            </a:r>
            <a:r>
              <a:rPr lang="en-US" altLang="ja-JP" sz="1200" dirty="0" smtClean="0"/>
              <a:t>name</a:t>
            </a:r>
            <a:r>
              <a:rPr lang="ja-JP" altLang="en-US" sz="1200" dirty="0" smtClean="0"/>
              <a:t>の要素を</a:t>
            </a:r>
            <a:endParaRPr lang="en-US" altLang="ja-JP" sz="1200" dirty="0" smtClean="0"/>
          </a:p>
          <a:p>
            <a:r>
              <a:rPr kumimoji="1" lang="ja-JP" altLang="en-US" sz="1200" dirty="0"/>
              <a:t>持</a:t>
            </a:r>
            <a:r>
              <a:rPr kumimoji="1" lang="ja-JP" altLang="en-US" sz="1200" dirty="0" smtClean="0"/>
              <a:t>っており、</a:t>
            </a:r>
            <a:r>
              <a:rPr lang="ja-JP" altLang="en-US" sz="1200" dirty="0" smtClean="0"/>
              <a:t>これが</a:t>
            </a:r>
            <a:endParaRPr lang="en-US" altLang="ja-JP" sz="1200" dirty="0" smtClean="0"/>
          </a:p>
          <a:p>
            <a:r>
              <a:rPr lang="ja-JP" altLang="en-US" sz="1200" dirty="0" smtClean="0"/>
              <a:t>クエリ指定</a:t>
            </a:r>
            <a:r>
              <a:rPr lang="ja-JP" altLang="en-US" sz="1200" dirty="0"/>
              <a:t>対象</a:t>
            </a:r>
            <a:endParaRPr kumimoji="1" lang="ja-JP" altLang="en-US" sz="1200" dirty="0"/>
          </a:p>
        </p:txBody>
      </p:sp>
      <p:sp>
        <p:nvSpPr>
          <p:cNvPr id="42" name="タイトル 1"/>
          <p:cNvSpPr txBox="1">
            <a:spLocks/>
          </p:cNvSpPr>
          <p:nvPr/>
        </p:nvSpPr>
        <p:spPr>
          <a:xfrm>
            <a:off x="225908" y="41564"/>
            <a:ext cx="9221689" cy="4633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ja-JP" sz="2800" b="1" u="sng" dirty="0" err="1" smtClean="0">
                <a:solidFill>
                  <a:schemeClr val="bg1"/>
                </a:solidFill>
                <a:latin typeface="+mj-ea"/>
              </a:rPr>
              <a:t>GraphQL</a:t>
            </a:r>
            <a:r>
              <a:rPr lang="en-US" altLang="ja-JP" sz="2800" b="1" u="sng" dirty="0" smtClean="0">
                <a:solidFill>
                  <a:schemeClr val="bg1"/>
                </a:solidFill>
                <a:latin typeface="+mj-ea"/>
              </a:rPr>
              <a:t>(1/2)</a:t>
            </a:r>
            <a:endParaRPr lang="en-US" altLang="ja-JP" sz="2800" u="sng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44" name="テキスト ボックス 43"/>
          <p:cNvSpPr txBox="1"/>
          <p:nvPr/>
        </p:nvSpPr>
        <p:spPr>
          <a:xfrm>
            <a:off x="4953396" y="3965148"/>
            <a:ext cx="1364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 dirty="0" smtClean="0"/>
              <a:t>左記のスキーマに</a:t>
            </a:r>
            <a:endParaRPr lang="en-US" altLang="ja-JP" sz="1200" dirty="0" smtClean="0"/>
          </a:p>
          <a:p>
            <a:r>
              <a:rPr kumimoji="1" lang="ja-JP" altLang="en-US" sz="1200" dirty="0" smtClean="0"/>
              <a:t>対するクエリ</a:t>
            </a:r>
            <a:endParaRPr kumimoji="1" lang="ja-JP" altLang="en-US" sz="1200" dirty="0"/>
          </a:p>
        </p:txBody>
      </p:sp>
      <p:sp>
        <p:nvSpPr>
          <p:cNvPr id="45" name="テキスト ボックス 44"/>
          <p:cNvSpPr txBox="1"/>
          <p:nvPr/>
        </p:nvSpPr>
        <p:spPr>
          <a:xfrm>
            <a:off x="8641537" y="3965148"/>
            <a:ext cx="180850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 smtClean="0"/>
              <a:t>左記のクエリを</a:t>
            </a:r>
            <a:endParaRPr kumimoji="1" lang="en-US" altLang="ja-JP" sz="1200" dirty="0" smtClean="0"/>
          </a:p>
          <a:p>
            <a:r>
              <a:rPr lang="ja-JP" altLang="en-US" sz="1200" dirty="0"/>
              <a:t>実行</a:t>
            </a:r>
            <a:r>
              <a:rPr lang="ja-JP" altLang="en-US" sz="1200" dirty="0" smtClean="0"/>
              <a:t>した際の</a:t>
            </a:r>
            <a:endParaRPr lang="en-US" altLang="ja-JP" sz="1200" dirty="0" smtClean="0"/>
          </a:p>
          <a:p>
            <a:r>
              <a:rPr kumimoji="1" lang="ja-JP" altLang="en-US" sz="1200" dirty="0" smtClean="0"/>
              <a:t>レスポンス例</a:t>
            </a:r>
            <a:endParaRPr kumimoji="1" lang="en-US" altLang="ja-JP" sz="1200" dirty="0" smtClean="0"/>
          </a:p>
          <a:p>
            <a:endParaRPr lang="en-US" altLang="ja-JP" sz="1200" dirty="0"/>
          </a:p>
          <a:p>
            <a:r>
              <a:rPr kumimoji="1" lang="en-US" altLang="ja-JP" sz="1200" dirty="0" smtClean="0"/>
              <a:t>Id</a:t>
            </a:r>
            <a:r>
              <a:rPr kumimoji="1" lang="ja-JP" altLang="en-US" sz="1200" dirty="0" smtClean="0"/>
              <a:t>と</a:t>
            </a:r>
            <a:r>
              <a:rPr kumimoji="1" lang="en-US" altLang="ja-JP" sz="1200" dirty="0" smtClean="0"/>
              <a:t>name</a:t>
            </a:r>
            <a:r>
              <a:rPr kumimoji="1" lang="ja-JP" altLang="en-US" sz="1200" dirty="0" smtClean="0"/>
              <a:t>に値が設定され</a:t>
            </a:r>
            <a:endParaRPr kumimoji="1" lang="en-US" altLang="ja-JP" sz="1200" dirty="0" smtClean="0"/>
          </a:p>
          <a:p>
            <a:r>
              <a:rPr lang="ja-JP" altLang="en-US" sz="1200" dirty="0" smtClean="0"/>
              <a:t>返却され</a:t>
            </a:r>
            <a:r>
              <a:rPr lang="ja-JP" altLang="en-US" sz="1200" dirty="0"/>
              <a:t>る</a:t>
            </a:r>
            <a:endParaRPr kumimoji="1" lang="ja-JP" altLang="en-US" sz="1200" dirty="0"/>
          </a:p>
        </p:txBody>
      </p:sp>
      <p:sp>
        <p:nvSpPr>
          <p:cNvPr id="46" name="正方形/長方形 45"/>
          <p:cNvSpPr/>
          <p:nvPr/>
        </p:nvSpPr>
        <p:spPr>
          <a:xfrm>
            <a:off x="249211" y="5791586"/>
            <a:ext cx="9720288" cy="140370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7569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25908" y="41564"/>
            <a:ext cx="9221689" cy="463390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ja-JP" sz="2800" b="1" u="sng" dirty="0" err="1">
                <a:solidFill>
                  <a:schemeClr val="bg1"/>
                </a:solidFill>
                <a:latin typeface="+mj-ea"/>
              </a:rPr>
              <a:t>GraphQL</a:t>
            </a:r>
            <a:r>
              <a:rPr lang="en-US" altLang="ja-JP" sz="2800" b="1" u="sng" dirty="0">
                <a:solidFill>
                  <a:schemeClr val="bg1"/>
                </a:solidFill>
                <a:latin typeface="+mj-ea"/>
              </a:rPr>
              <a:t>(2/2</a:t>
            </a:r>
            <a:r>
              <a:rPr lang="en-US" altLang="ja-JP" sz="2800" b="1" u="sng" dirty="0" smtClean="0">
                <a:solidFill>
                  <a:schemeClr val="bg1"/>
                </a:solidFill>
                <a:latin typeface="+mj-ea"/>
              </a:rPr>
              <a:t>)</a:t>
            </a:r>
            <a:endParaRPr lang="en-US" altLang="ja-JP" sz="2800" u="sng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4143077" y="7157192"/>
            <a:ext cx="2405658" cy="402483"/>
          </a:xfrm>
        </p:spPr>
        <p:txBody>
          <a:bodyPr/>
          <a:lstStyle/>
          <a:p>
            <a:pPr algn="ctr"/>
            <a:fld id="{AED8A0EF-F5B4-4572-888B-A40037D59371}" type="slidenum">
              <a:rPr kumimoji="1" lang="ja-JP" altLang="en-US" smtClean="0"/>
              <a:pPr algn="ctr"/>
              <a:t>6</a:t>
            </a:fld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01338" y="1039862"/>
            <a:ext cx="1004916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b="1" u="sng" dirty="0" err="1" smtClean="0"/>
              <a:t>GraphQL</a:t>
            </a:r>
            <a:r>
              <a:rPr lang="ja-JP" altLang="en-US" b="1" u="sng" dirty="0" smtClean="0"/>
              <a:t>の</a:t>
            </a:r>
            <a:r>
              <a:rPr lang="ja-JP" altLang="en-US" b="1" u="sng" dirty="0"/>
              <a:t>特徴</a:t>
            </a:r>
            <a:endParaRPr lang="en-US" altLang="ja-JP" b="1" u="sng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01338" y="3009621"/>
            <a:ext cx="1004916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b="1" u="sng" dirty="0" err="1"/>
              <a:t>GraphQL</a:t>
            </a:r>
            <a:r>
              <a:rPr lang="ja-JP" altLang="en-US" b="1" u="sng" dirty="0" smtClean="0"/>
              <a:t>のメリット</a:t>
            </a:r>
            <a:endParaRPr lang="en-US" altLang="ja-JP" b="1" u="sng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21325" y="4818101"/>
            <a:ext cx="1004916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b="1" u="sng" dirty="0" err="1"/>
              <a:t>GraphQL</a:t>
            </a:r>
            <a:r>
              <a:rPr lang="ja-JP" altLang="en-US" b="1" u="sng" dirty="0" smtClean="0"/>
              <a:t>の</a:t>
            </a:r>
            <a:r>
              <a:rPr lang="ja-JP" altLang="en-US" b="1" u="sng" dirty="0"/>
              <a:t>デメリット</a:t>
            </a:r>
            <a:endParaRPr lang="en-US" altLang="ja-JP" b="1" u="sng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225908" y="644235"/>
            <a:ext cx="49603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u="sng" dirty="0" err="1"/>
              <a:t>GraphQL</a:t>
            </a:r>
            <a:r>
              <a:rPr lang="ja-JP" altLang="en-US" sz="1600" dirty="0" smtClean="0"/>
              <a:t>の特徴・メリット・デメリットは以下の通りとなる。</a:t>
            </a:r>
            <a:endParaRPr lang="en-US" altLang="ja-JP" sz="1600" dirty="0" smtClean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558800" y="1574770"/>
            <a:ext cx="629050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 smtClean="0"/>
              <a:t>■クライアント・サーバー形式でシステムを構築する</a:t>
            </a:r>
            <a:endParaRPr lang="en-US" altLang="ja-JP" sz="1600" dirty="0" smtClean="0"/>
          </a:p>
          <a:p>
            <a:r>
              <a:rPr lang="ja-JP" altLang="en-US" sz="1600" dirty="0"/>
              <a:t>■レイヤー化された</a:t>
            </a:r>
            <a:r>
              <a:rPr lang="ja-JP" altLang="en-US" sz="1600" dirty="0" smtClean="0"/>
              <a:t>システム</a:t>
            </a:r>
            <a:endParaRPr lang="en-US" altLang="ja-JP" sz="1600" dirty="0" smtClean="0"/>
          </a:p>
          <a:p>
            <a:r>
              <a:rPr lang="ja-JP" altLang="en-US" sz="1600" dirty="0"/>
              <a:t>　</a:t>
            </a:r>
            <a:r>
              <a:rPr lang="ja-JP" altLang="en-US" sz="1600" dirty="0" smtClean="0"/>
              <a:t>　⇒</a:t>
            </a:r>
            <a:endParaRPr kumimoji="1" lang="en-US" altLang="ja-JP" sz="1600" dirty="0" smtClean="0"/>
          </a:p>
          <a:p>
            <a:r>
              <a:rPr kumimoji="1" lang="ja-JP" altLang="en-US" sz="1600" dirty="0" smtClean="0"/>
              <a:t>■サービス利用側がサービス提供側の開発言語に依存しない</a:t>
            </a:r>
            <a:endParaRPr kumimoji="1" lang="en-US" altLang="ja-JP" sz="1600" dirty="0" smtClean="0"/>
          </a:p>
          <a:p>
            <a:r>
              <a:rPr kumimoji="1" lang="ja-JP" altLang="en-US" sz="1600" dirty="0" smtClean="0"/>
              <a:t>　　⇒サービス利用側</a:t>
            </a:r>
            <a:r>
              <a:rPr kumimoji="1" lang="en-US" altLang="ja-JP" sz="1600" dirty="0" smtClean="0"/>
              <a:t>(</a:t>
            </a:r>
            <a:r>
              <a:rPr kumimoji="1" lang="ja-JP" altLang="en-US" sz="1600" dirty="0" smtClean="0"/>
              <a:t>クライアント</a:t>
            </a:r>
            <a:r>
              <a:rPr kumimoji="1" lang="en-US" altLang="ja-JP" sz="1600" dirty="0" smtClean="0"/>
              <a:t>)</a:t>
            </a:r>
            <a:r>
              <a:rPr kumimoji="1" lang="ja-JP" altLang="en-US" sz="1600" dirty="0" err="1" smtClean="0"/>
              <a:t>の開</a:t>
            </a:r>
            <a:r>
              <a:rPr kumimoji="1" lang="ja-JP" altLang="en-US" sz="1600" dirty="0" smtClean="0"/>
              <a:t>発言語を制限しない作りが可能</a:t>
            </a:r>
            <a:endParaRPr kumimoji="1" lang="ja-JP" altLang="en-US" sz="1600" dirty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558799" y="3544529"/>
            <a:ext cx="4828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 smtClean="0"/>
              <a:t>■開発言語に依存しない</a:t>
            </a:r>
            <a:endParaRPr lang="en-US" altLang="ja-JP" sz="1600" dirty="0" smtClean="0"/>
          </a:p>
          <a:p>
            <a:r>
              <a:rPr lang="ja-JP" altLang="en-US" sz="1600" dirty="0" smtClean="0"/>
              <a:t>■汎用的なプロトコル・データフォーマットを使用できる</a:t>
            </a:r>
            <a:endParaRPr lang="en-US" altLang="ja-JP" sz="1600" dirty="0" smtClean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558799" y="5291455"/>
            <a:ext cx="68371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 smtClean="0"/>
              <a:t>■プロトコル・言語・規約ではないので実装方針が統一かされていない</a:t>
            </a:r>
            <a:endParaRPr lang="en-US" altLang="ja-JP" sz="1600" dirty="0" smtClean="0"/>
          </a:p>
          <a:p>
            <a:r>
              <a:rPr lang="ja-JP" altLang="en-US" sz="1600" dirty="0"/>
              <a:t>　</a:t>
            </a:r>
            <a:r>
              <a:rPr lang="ja-JP" altLang="en-US" sz="1600" dirty="0" smtClean="0"/>
              <a:t>　⇒実装側で自由に決める事ができるが、自由過ぎる事がデメリットにもなる</a:t>
            </a:r>
            <a:endParaRPr kumimoji="1"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928641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25908" y="41564"/>
            <a:ext cx="9221689" cy="463390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ja-JP" sz="2800" b="1" u="sng" dirty="0" err="1" smtClean="0">
                <a:solidFill>
                  <a:schemeClr val="bg1"/>
                </a:solidFill>
                <a:latin typeface="+mj-ea"/>
              </a:rPr>
              <a:t>gRPC</a:t>
            </a:r>
            <a:r>
              <a:rPr lang="en-US" altLang="ja-JP" sz="2800" b="1" u="sng" dirty="0" smtClean="0">
                <a:solidFill>
                  <a:schemeClr val="bg1"/>
                </a:solidFill>
                <a:latin typeface="+mj-ea"/>
              </a:rPr>
              <a:t>(1/2)</a:t>
            </a:r>
            <a:endParaRPr lang="en-US" altLang="ja-JP" sz="2800" b="1" u="sng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4143077" y="7157192"/>
            <a:ext cx="2405658" cy="402483"/>
          </a:xfrm>
        </p:spPr>
        <p:txBody>
          <a:bodyPr/>
          <a:lstStyle/>
          <a:p>
            <a:pPr algn="ctr"/>
            <a:fld id="{AED8A0EF-F5B4-4572-888B-A40037D59371}" type="slidenum">
              <a:rPr kumimoji="1" lang="ja-JP" altLang="en-US" smtClean="0"/>
              <a:pPr algn="ctr"/>
              <a:t>7</a:t>
            </a:fld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5908" y="644235"/>
            <a:ext cx="89581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 err="1" smtClean="0"/>
              <a:t>gRPC</a:t>
            </a:r>
            <a:r>
              <a:rPr lang="ja-JP" altLang="en-US" sz="1400" dirty="0" smtClean="0"/>
              <a:t>は</a:t>
            </a:r>
            <a:r>
              <a:rPr lang="en-US" altLang="ja-JP" sz="1400" dirty="0" smtClean="0"/>
              <a:t>RPC(Remote Procedure Call))</a:t>
            </a:r>
            <a:r>
              <a:rPr lang="ja-JP" altLang="en-US" sz="1400" dirty="0" smtClean="0"/>
              <a:t>を実現するために</a:t>
            </a:r>
            <a:r>
              <a:rPr lang="en-US" altLang="ja-JP" sz="1400" dirty="0" smtClean="0"/>
              <a:t>Google</a:t>
            </a:r>
            <a:r>
              <a:rPr lang="ja-JP" altLang="en-US" sz="1400" dirty="0" smtClean="0"/>
              <a:t>が開発したプロトコルで</a:t>
            </a:r>
            <a:r>
              <a:rPr lang="en-US" altLang="ja-JP" sz="1400" dirty="0" smtClean="0"/>
              <a:t>HTTP/2</a:t>
            </a:r>
            <a:r>
              <a:rPr lang="ja-JP" altLang="en-US" sz="1400" dirty="0" smtClean="0"/>
              <a:t>を標準でサポートしている</a:t>
            </a:r>
            <a:endParaRPr lang="en-US" altLang="ja-JP" sz="1400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508000" y="1439570"/>
            <a:ext cx="7034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smtClean="0"/>
              <a:t>Protocol</a:t>
            </a:r>
            <a:r>
              <a:rPr kumimoji="1" lang="ja-JP" altLang="en-US" sz="1400" dirty="0" smtClean="0"/>
              <a:t> </a:t>
            </a:r>
            <a:r>
              <a:rPr kumimoji="1" lang="en-US" altLang="ja-JP" sz="1400" dirty="0" smtClean="0"/>
              <a:t>Buffer(Google</a:t>
            </a:r>
            <a:r>
              <a:rPr kumimoji="1" lang="ja-JP" altLang="en-US" sz="1400" dirty="0" smtClean="0"/>
              <a:t>が開発した</a:t>
            </a:r>
            <a:r>
              <a:rPr kumimoji="1" lang="en-US" altLang="ja-JP" sz="1400" dirty="0" smtClean="0"/>
              <a:t>IDL)</a:t>
            </a:r>
            <a:r>
              <a:rPr kumimoji="1" lang="ja-JP" altLang="en-US" sz="1400" dirty="0" smtClean="0"/>
              <a:t>より</a:t>
            </a:r>
            <a:r>
              <a:rPr kumimoji="1" lang="en-US" altLang="ja-JP" sz="1400" dirty="0" smtClean="0"/>
              <a:t>.photo</a:t>
            </a:r>
            <a:r>
              <a:rPr kumimoji="1" lang="ja-JP" altLang="en-US" sz="1400" dirty="0" smtClean="0"/>
              <a:t>形式でデータ構造とサービス定義を作成</a:t>
            </a:r>
            <a:endParaRPr kumimoji="1" lang="ja-JP" altLang="en-US" sz="14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08000" y="2291687"/>
            <a:ext cx="7300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 smtClean="0"/>
              <a:t>.photo</a:t>
            </a:r>
            <a:r>
              <a:rPr lang="ja-JP" altLang="en-US" sz="1400" dirty="0" smtClean="0"/>
              <a:t>ファイルをコンパイルしてサーバー側・クライアント側のソースコードの雛型を作成できる。</a:t>
            </a:r>
            <a:endParaRPr lang="en-US" altLang="ja-JP" sz="1400" dirty="0" smtClean="0"/>
          </a:p>
          <a:p>
            <a:r>
              <a:rPr lang="ja-JP" altLang="en-US" sz="1400" dirty="0" smtClean="0"/>
              <a:t>サポートされている開発言語は</a:t>
            </a:r>
            <a:r>
              <a:rPr lang="en-US" altLang="ja-JP" sz="1400" dirty="0" smtClean="0"/>
              <a:t>Java</a:t>
            </a:r>
            <a:r>
              <a:rPr lang="ja-JP" altLang="en-US" sz="1400" dirty="0" smtClean="0"/>
              <a:t>・</a:t>
            </a:r>
            <a:r>
              <a:rPr lang="en-US" altLang="ja-JP" sz="1400" dirty="0" smtClean="0"/>
              <a:t>Go</a:t>
            </a:r>
            <a:r>
              <a:rPr lang="ja-JP" altLang="en-US" sz="1400" dirty="0" smtClean="0"/>
              <a:t>・</a:t>
            </a:r>
            <a:r>
              <a:rPr lang="en-US" altLang="ja-JP" sz="1400" dirty="0" smtClean="0"/>
              <a:t>C#</a:t>
            </a:r>
            <a:r>
              <a:rPr lang="ja-JP" altLang="en-US" sz="1400" dirty="0" smtClean="0"/>
              <a:t>・</a:t>
            </a:r>
            <a:r>
              <a:rPr lang="en-US" altLang="ja-JP" sz="1400" dirty="0" smtClean="0"/>
              <a:t>Python</a:t>
            </a:r>
            <a:r>
              <a:rPr lang="ja-JP" altLang="en-US" sz="1400" dirty="0" smtClean="0"/>
              <a:t>・</a:t>
            </a:r>
            <a:r>
              <a:rPr lang="en-US" altLang="ja-JP" sz="1400" dirty="0" smtClean="0"/>
              <a:t>Ruby</a:t>
            </a:r>
            <a:r>
              <a:rPr lang="ja-JP" altLang="en-US" sz="1400" dirty="0" smtClean="0"/>
              <a:t>・</a:t>
            </a:r>
            <a:r>
              <a:rPr lang="en-US" altLang="ja-JP" sz="1400" dirty="0" smtClean="0"/>
              <a:t>PHP</a:t>
            </a:r>
            <a:r>
              <a:rPr lang="ja-JP" altLang="en-US" sz="1400" dirty="0" smtClean="0"/>
              <a:t>等</a:t>
            </a:r>
            <a:endParaRPr kumimoji="1" lang="ja-JP" altLang="en-US" sz="1400" dirty="0"/>
          </a:p>
        </p:txBody>
      </p:sp>
      <p:sp>
        <p:nvSpPr>
          <p:cNvPr id="9" name="正方形/長方形 8"/>
          <p:cNvSpPr/>
          <p:nvPr/>
        </p:nvSpPr>
        <p:spPr>
          <a:xfrm>
            <a:off x="225907" y="1007770"/>
            <a:ext cx="10193769" cy="3627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600" dirty="0" smtClean="0"/>
              <a:t>IDL(</a:t>
            </a:r>
            <a:r>
              <a:rPr lang="ja-JP" altLang="en-US" sz="1600" dirty="0" smtClean="0"/>
              <a:t>インターフェース定義言語</a:t>
            </a:r>
            <a:r>
              <a:rPr lang="en-US" altLang="ja-JP" sz="1600" dirty="0" smtClean="0"/>
              <a:t>)</a:t>
            </a:r>
            <a:r>
              <a:rPr lang="ja-JP" altLang="en-US" sz="1600" dirty="0" smtClean="0"/>
              <a:t>を使って</a:t>
            </a:r>
            <a:r>
              <a:rPr lang="en-US" altLang="ja-JP" sz="1600" dirty="0" smtClean="0"/>
              <a:t>API</a:t>
            </a:r>
            <a:r>
              <a:rPr lang="ja-JP" altLang="en-US" sz="1600" dirty="0" smtClean="0"/>
              <a:t>仕様を定義</a:t>
            </a:r>
            <a:endParaRPr lang="ja-JP" altLang="en-US" sz="1600" dirty="0"/>
          </a:p>
        </p:txBody>
      </p:sp>
      <p:sp>
        <p:nvSpPr>
          <p:cNvPr id="10" name="正方形/長方形 9"/>
          <p:cNvSpPr/>
          <p:nvPr/>
        </p:nvSpPr>
        <p:spPr>
          <a:xfrm>
            <a:off x="225907" y="1858670"/>
            <a:ext cx="10193769" cy="3627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600" dirty="0" smtClean="0"/>
              <a:t>.photo</a:t>
            </a:r>
            <a:r>
              <a:rPr lang="ja-JP" altLang="en-US" sz="1600" dirty="0" smtClean="0"/>
              <a:t>ファイルよりサーバー側・クライアント側のソースコードの雛型を作成</a:t>
            </a:r>
            <a:endParaRPr lang="ja-JP" altLang="en-US" sz="1600" dirty="0"/>
          </a:p>
        </p:txBody>
      </p:sp>
      <p:sp>
        <p:nvSpPr>
          <p:cNvPr id="11" name="正方形/長方形 10"/>
          <p:cNvSpPr/>
          <p:nvPr/>
        </p:nvSpPr>
        <p:spPr>
          <a:xfrm>
            <a:off x="225907" y="2912770"/>
            <a:ext cx="10193769" cy="3627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600" dirty="0" smtClean="0"/>
              <a:t>WEB API</a:t>
            </a:r>
            <a:r>
              <a:rPr lang="ja-JP" altLang="en-US" sz="1600" dirty="0" smtClean="0"/>
              <a:t>化するためにはプロキシが必要</a:t>
            </a:r>
            <a:endParaRPr lang="ja-JP" altLang="en-US" sz="1600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508000" y="3392949"/>
            <a:ext cx="82473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smtClean="0"/>
              <a:t>WEB API</a:t>
            </a:r>
            <a:r>
              <a:rPr kumimoji="1" lang="ja-JP" altLang="en-US" sz="1400" dirty="0" smtClean="0"/>
              <a:t>として実装する場合、クライアントに</a:t>
            </a:r>
            <a:r>
              <a:rPr kumimoji="1" lang="en-US" altLang="ja-JP" sz="1400" dirty="0" err="1" smtClean="0"/>
              <a:t>gRPC</a:t>
            </a:r>
            <a:r>
              <a:rPr kumimoji="1" lang="en-US" altLang="ja-JP" sz="1400" dirty="0" smtClean="0"/>
              <a:t>-Web</a:t>
            </a:r>
            <a:r>
              <a:rPr lang="ja-JP" altLang="en-US" sz="1400" dirty="0" smtClean="0"/>
              <a:t>を使用し中継として</a:t>
            </a:r>
            <a:r>
              <a:rPr lang="en-US" altLang="ja-JP" sz="1400" dirty="0" err="1" smtClean="0"/>
              <a:t>gRPC</a:t>
            </a:r>
            <a:r>
              <a:rPr lang="en-US" altLang="ja-JP" sz="1400" dirty="0" smtClean="0"/>
              <a:t>-Web</a:t>
            </a:r>
            <a:r>
              <a:rPr lang="ja-JP" altLang="en-US" sz="1400" dirty="0" smtClean="0"/>
              <a:t>対応プロキシが必要</a:t>
            </a:r>
            <a:endParaRPr kumimoji="1" lang="ja-JP" altLang="en-US" sz="1400" dirty="0"/>
          </a:p>
        </p:txBody>
      </p:sp>
      <p:sp>
        <p:nvSpPr>
          <p:cNvPr id="13" name="正方形/長方形 12"/>
          <p:cNvSpPr/>
          <p:nvPr/>
        </p:nvSpPr>
        <p:spPr>
          <a:xfrm>
            <a:off x="581508" y="4813141"/>
            <a:ext cx="1717192" cy="723901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400" dirty="0" smtClean="0"/>
              <a:t>サービス</a:t>
            </a:r>
            <a:r>
              <a:rPr kumimoji="1" lang="ja-JP" altLang="en-US" sz="1400" dirty="0" smtClean="0"/>
              <a:t>利用側</a:t>
            </a:r>
            <a:endParaRPr kumimoji="1" lang="en-US" altLang="ja-JP" sz="1400" dirty="0" smtClean="0"/>
          </a:p>
          <a:p>
            <a:pPr algn="ctr"/>
            <a:r>
              <a:rPr lang="en-US" altLang="ja-JP" sz="1400" dirty="0" smtClean="0"/>
              <a:t>(</a:t>
            </a:r>
            <a:r>
              <a:rPr lang="en-US" altLang="ja-JP" sz="1400" dirty="0" err="1" smtClean="0"/>
              <a:t>grpc</a:t>
            </a:r>
            <a:r>
              <a:rPr lang="en-US" altLang="ja-JP" sz="1400" dirty="0" smtClean="0"/>
              <a:t>-web)</a:t>
            </a:r>
            <a:endParaRPr kumimoji="1" lang="ja-JP" altLang="en-US" sz="1400" dirty="0"/>
          </a:p>
        </p:txBody>
      </p:sp>
      <p:cxnSp>
        <p:nvCxnSpPr>
          <p:cNvPr id="15" name="直線矢印コネクタ 14"/>
          <p:cNvCxnSpPr/>
          <p:nvPr/>
        </p:nvCxnSpPr>
        <p:spPr>
          <a:xfrm>
            <a:off x="2323242" y="5069335"/>
            <a:ext cx="1593114" cy="11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/>
          <p:cNvCxnSpPr/>
          <p:nvPr/>
        </p:nvCxnSpPr>
        <p:spPr>
          <a:xfrm flipH="1" flipV="1">
            <a:off x="2298700" y="5237503"/>
            <a:ext cx="1630785" cy="24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/>
          <p:cNvSpPr txBox="1"/>
          <p:nvPr/>
        </p:nvSpPr>
        <p:spPr>
          <a:xfrm>
            <a:off x="211540" y="4112472"/>
            <a:ext cx="22493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b="1" u="sng" dirty="0" smtClean="0"/>
              <a:t>システムイメージ構成図</a:t>
            </a:r>
            <a:endParaRPr lang="en-US" altLang="ja-JP" sz="1600" b="1" u="sng" dirty="0" smtClean="0"/>
          </a:p>
        </p:txBody>
      </p:sp>
      <p:sp>
        <p:nvSpPr>
          <p:cNvPr id="18" name="正方形/長方形 17"/>
          <p:cNvSpPr/>
          <p:nvPr/>
        </p:nvSpPr>
        <p:spPr>
          <a:xfrm>
            <a:off x="249211" y="4099856"/>
            <a:ext cx="10170466" cy="215563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/>
          <p:cNvSpPr/>
          <p:nvPr/>
        </p:nvSpPr>
        <p:spPr>
          <a:xfrm>
            <a:off x="3929485" y="4837742"/>
            <a:ext cx="1364648" cy="723901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400" dirty="0" smtClean="0"/>
              <a:t>プロキシ</a:t>
            </a:r>
            <a:endParaRPr lang="en-US" altLang="ja-JP" sz="1400" dirty="0" smtClean="0"/>
          </a:p>
          <a:p>
            <a:pPr algn="ctr"/>
            <a:r>
              <a:rPr lang="en-US" altLang="ja-JP" sz="1400" dirty="0" smtClean="0"/>
              <a:t>(envoy)</a:t>
            </a:r>
            <a:endParaRPr kumimoji="1" lang="ja-JP" altLang="en-US" sz="1400" dirty="0"/>
          </a:p>
        </p:txBody>
      </p:sp>
      <p:cxnSp>
        <p:nvCxnSpPr>
          <p:cNvPr id="25" name="直線矢印コネクタ 24"/>
          <p:cNvCxnSpPr/>
          <p:nvPr/>
        </p:nvCxnSpPr>
        <p:spPr>
          <a:xfrm flipH="1" flipV="1">
            <a:off x="5322791" y="5244781"/>
            <a:ext cx="1254601" cy="7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/>
          <p:cNvCxnSpPr/>
          <p:nvPr/>
        </p:nvCxnSpPr>
        <p:spPr>
          <a:xfrm flipV="1">
            <a:off x="5331804" y="5147805"/>
            <a:ext cx="1216930" cy="11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/>
          <p:cNvSpPr txBox="1"/>
          <p:nvPr/>
        </p:nvSpPr>
        <p:spPr>
          <a:xfrm>
            <a:off x="2630696" y="4709479"/>
            <a:ext cx="8215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 smtClean="0"/>
              <a:t>HTTP</a:t>
            </a:r>
            <a:r>
              <a:rPr kumimoji="1" lang="ja-JP" altLang="en-US" sz="1200" dirty="0" smtClean="0"/>
              <a:t>通信</a:t>
            </a:r>
            <a:endParaRPr kumimoji="1" lang="ja-JP" altLang="en-US" sz="1200" dirty="0"/>
          </a:p>
        </p:txBody>
      </p:sp>
      <p:sp>
        <p:nvSpPr>
          <p:cNvPr id="42" name="正方形/長方形 41"/>
          <p:cNvSpPr/>
          <p:nvPr/>
        </p:nvSpPr>
        <p:spPr>
          <a:xfrm>
            <a:off x="6548734" y="4845048"/>
            <a:ext cx="1259533" cy="723901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 err="1" smtClean="0"/>
              <a:t>gRPC</a:t>
            </a:r>
            <a:r>
              <a:rPr lang="en-US" altLang="ja-JP" sz="1400" dirty="0" smtClean="0"/>
              <a:t> </a:t>
            </a:r>
            <a:endParaRPr kumimoji="1" lang="ja-JP" altLang="en-US" sz="1400" dirty="0"/>
          </a:p>
        </p:txBody>
      </p:sp>
      <p:sp>
        <p:nvSpPr>
          <p:cNvPr id="43" name="正方形/長方形 42"/>
          <p:cNvSpPr/>
          <p:nvPr/>
        </p:nvSpPr>
        <p:spPr>
          <a:xfrm>
            <a:off x="8946105" y="4845048"/>
            <a:ext cx="1259533" cy="723901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 err="1" smtClean="0"/>
              <a:t>gRPC</a:t>
            </a:r>
            <a:r>
              <a:rPr lang="en-US" altLang="ja-JP" sz="1400" dirty="0" smtClean="0"/>
              <a:t> </a:t>
            </a:r>
            <a:endParaRPr kumimoji="1" lang="ja-JP" altLang="en-US" sz="1400" dirty="0"/>
          </a:p>
        </p:txBody>
      </p:sp>
      <p:sp>
        <p:nvSpPr>
          <p:cNvPr id="48" name="テキスト ボックス 47"/>
          <p:cNvSpPr txBox="1"/>
          <p:nvPr/>
        </p:nvSpPr>
        <p:spPr>
          <a:xfrm>
            <a:off x="5450465" y="4773300"/>
            <a:ext cx="9512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 smtClean="0"/>
              <a:t>HTTP/2</a:t>
            </a:r>
            <a:r>
              <a:rPr kumimoji="1" lang="ja-JP" altLang="en-US" sz="1200" dirty="0" smtClean="0"/>
              <a:t>通信</a:t>
            </a:r>
            <a:endParaRPr kumimoji="1" lang="ja-JP" altLang="en-US" sz="1200" dirty="0"/>
          </a:p>
        </p:txBody>
      </p:sp>
      <p:cxnSp>
        <p:nvCxnSpPr>
          <p:cNvPr id="51" name="直線矢印コネクタ 50"/>
          <p:cNvCxnSpPr/>
          <p:nvPr/>
        </p:nvCxnSpPr>
        <p:spPr>
          <a:xfrm flipH="1">
            <a:off x="7808267" y="5283199"/>
            <a:ext cx="11378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矢印コネクタ 53"/>
          <p:cNvCxnSpPr/>
          <p:nvPr/>
        </p:nvCxnSpPr>
        <p:spPr>
          <a:xfrm>
            <a:off x="7808267" y="5168899"/>
            <a:ext cx="11378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テキスト ボックス 56"/>
          <p:cNvSpPr txBox="1"/>
          <p:nvPr/>
        </p:nvSpPr>
        <p:spPr>
          <a:xfrm>
            <a:off x="7845950" y="4720451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dirty="0" smtClean="0"/>
              <a:t>リクエスト送信</a:t>
            </a:r>
            <a:endParaRPr kumimoji="1" lang="ja-JP" altLang="en-US" sz="1200" dirty="0"/>
          </a:p>
        </p:txBody>
      </p:sp>
      <p:sp>
        <p:nvSpPr>
          <p:cNvPr id="61" name="テキスト ボックス 60"/>
          <p:cNvSpPr txBox="1"/>
          <p:nvPr/>
        </p:nvSpPr>
        <p:spPr>
          <a:xfrm>
            <a:off x="7845938" y="5499342"/>
            <a:ext cx="11833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1200" dirty="0" smtClean="0"/>
              <a:t>レスポンス</a:t>
            </a:r>
            <a:r>
              <a:rPr lang="ja-JP" altLang="en-US" sz="1200" dirty="0"/>
              <a:t>返却</a:t>
            </a:r>
            <a:endParaRPr kumimoji="1" lang="ja-JP" altLang="en-US" sz="1200" dirty="0"/>
          </a:p>
        </p:txBody>
      </p:sp>
      <p:sp>
        <p:nvSpPr>
          <p:cNvPr id="62" name="角丸四角形 61"/>
          <p:cNvSpPr/>
          <p:nvPr/>
        </p:nvSpPr>
        <p:spPr>
          <a:xfrm>
            <a:off x="7841435" y="4963643"/>
            <a:ext cx="1142770" cy="450249"/>
          </a:xfrm>
          <a:prstGeom prst="roundRect">
            <a:avLst/>
          </a:prstGeom>
          <a:solidFill>
            <a:srgbClr val="FF7C8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角丸四角形 62"/>
          <p:cNvSpPr/>
          <p:nvPr/>
        </p:nvSpPr>
        <p:spPr>
          <a:xfrm>
            <a:off x="2268440" y="4950756"/>
            <a:ext cx="1737825" cy="450249"/>
          </a:xfrm>
          <a:prstGeom prst="roundRect">
            <a:avLst/>
          </a:prstGeom>
          <a:solidFill>
            <a:srgbClr val="FF7C8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5" name="直線矢印コネクタ 64"/>
          <p:cNvCxnSpPr>
            <a:endCxn id="63" idx="2"/>
          </p:cNvCxnSpPr>
          <p:nvPr/>
        </p:nvCxnSpPr>
        <p:spPr>
          <a:xfrm flipH="1" flipV="1">
            <a:off x="3137353" y="5401005"/>
            <a:ext cx="113847" cy="3753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/>
          <p:cNvCxnSpPr/>
          <p:nvPr/>
        </p:nvCxnSpPr>
        <p:spPr>
          <a:xfrm flipH="1" flipV="1">
            <a:off x="8915740" y="5438431"/>
            <a:ext cx="113847" cy="3753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テキスト ボックス 67"/>
          <p:cNvSpPr txBox="1"/>
          <p:nvPr/>
        </p:nvSpPr>
        <p:spPr>
          <a:xfrm>
            <a:off x="3091791" y="5623736"/>
            <a:ext cx="1126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200" dirty="0" smtClean="0">
                <a:solidFill>
                  <a:srgbClr val="FF0000"/>
                </a:solidFill>
              </a:rPr>
              <a:t>Protocol Buffer</a:t>
            </a:r>
            <a:endParaRPr kumimoji="1" lang="ja-JP" altLang="en-US" sz="1200" dirty="0">
              <a:solidFill>
                <a:srgbClr val="FF0000"/>
              </a:solidFill>
            </a:endParaRPr>
          </a:p>
        </p:txBody>
      </p:sp>
      <p:sp>
        <p:nvSpPr>
          <p:cNvPr id="69" name="テキスト ボックス 68"/>
          <p:cNvSpPr txBox="1"/>
          <p:nvPr/>
        </p:nvSpPr>
        <p:spPr>
          <a:xfrm>
            <a:off x="8917401" y="5726877"/>
            <a:ext cx="1126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200" dirty="0" smtClean="0">
                <a:solidFill>
                  <a:srgbClr val="FF0000"/>
                </a:solidFill>
              </a:rPr>
              <a:t>Protocol Buffer</a:t>
            </a:r>
            <a:endParaRPr kumimoji="1" lang="ja-JP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280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25908" y="41564"/>
            <a:ext cx="9221689" cy="463390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ja-JP" sz="2800" b="1" u="sng" dirty="0" err="1" smtClean="0">
                <a:solidFill>
                  <a:schemeClr val="bg1"/>
                </a:solidFill>
                <a:latin typeface="+mj-ea"/>
              </a:rPr>
              <a:t>gRPC</a:t>
            </a:r>
            <a:r>
              <a:rPr lang="en-US" altLang="ja-JP" sz="2800" b="1" u="sng" dirty="0" smtClean="0">
                <a:solidFill>
                  <a:schemeClr val="bg1"/>
                </a:solidFill>
                <a:latin typeface="+mj-ea"/>
              </a:rPr>
              <a:t>(2)</a:t>
            </a:r>
            <a:endParaRPr lang="en-US" altLang="ja-JP" sz="2800" b="1" u="sng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4143077" y="7157192"/>
            <a:ext cx="2405658" cy="402483"/>
          </a:xfrm>
        </p:spPr>
        <p:txBody>
          <a:bodyPr/>
          <a:lstStyle/>
          <a:p>
            <a:pPr algn="ctr"/>
            <a:fld id="{AED8A0EF-F5B4-4572-888B-A40037D59371}" type="slidenum">
              <a:rPr kumimoji="1" lang="ja-JP" altLang="en-US" smtClean="0"/>
              <a:pPr algn="ctr"/>
              <a:t>8</a:t>
            </a:fld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01338" y="1039862"/>
            <a:ext cx="1004916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b="1" u="sng" dirty="0" err="1"/>
              <a:t>gRPC</a:t>
            </a:r>
            <a:r>
              <a:rPr lang="ja-JP" altLang="en-US" b="1" u="sng" dirty="0" smtClean="0"/>
              <a:t>の</a:t>
            </a:r>
            <a:r>
              <a:rPr lang="ja-JP" altLang="en-US" b="1" u="sng" dirty="0"/>
              <a:t>特徴</a:t>
            </a:r>
            <a:endParaRPr lang="en-US" altLang="ja-JP" b="1" u="sng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01338" y="3009621"/>
            <a:ext cx="1004916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b="1" u="sng" dirty="0" err="1"/>
              <a:t>gRPC</a:t>
            </a:r>
            <a:r>
              <a:rPr lang="ja-JP" altLang="en-US" b="1" u="sng" dirty="0" smtClean="0"/>
              <a:t>のメリット</a:t>
            </a:r>
            <a:endParaRPr lang="en-US" altLang="ja-JP" b="1" u="sng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21325" y="4818101"/>
            <a:ext cx="1004916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b="1" u="sng" dirty="0" err="1"/>
              <a:t>gRPC</a:t>
            </a:r>
            <a:r>
              <a:rPr lang="ja-JP" altLang="en-US" b="1" u="sng" dirty="0" smtClean="0"/>
              <a:t>の</a:t>
            </a:r>
            <a:r>
              <a:rPr lang="ja-JP" altLang="en-US" b="1" u="sng" dirty="0"/>
              <a:t>デメリット</a:t>
            </a:r>
            <a:endParaRPr lang="en-US" altLang="ja-JP" b="1" u="sng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225908" y="644235"/>
            <a:ext cx="46410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u="sng" dirty="0" err="1" smtClean="0"/>
              <a:t>gRPC</a:t>
            </a:r>
            <a:r>
              <a:rPr lang="ja-JP" altLang="en-US" sz="1600" dirty="0" smtClean="0"/>
              <a:t>の特徴・メリット・デメリットは以下の通りとなる。</a:t>
            </a:r>
            <a:endParaRPr lang="en-US" altLang="ja-JP" sz="1600" dirty="0" smtClean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558800" y="1574770"/>
            <a:ext cx="629050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 smtClean="0"/>
              <a:t>■クライアント・サーバー形式でシステムを構築する</a:t>
            </a:r>
            <a:endParaRPr lang="en-US" altLang="ja-JP" sz="1600" dirty="0" smtClean="0"/>
          </a:p>
          <a:p>
            <a:r>
              <a:rPr lang="ja-JP" altLang="en-US" sz="1600" dirty="0"/>
              <a:t>■レイヤー化された</a:t>
            </a:r>
            <a:r>
              <a:rPr lang="ja-JP" altLang="en-US" sz="1600" dirty="0" smtClean="0"/>
              <a:t>システム</a:t>
            </a:r>
            <a:endParaRPr lang="en-US" altLang="ja-JP" sz="1600" dirty="0" smtClean="0"/>
          </a:p>
          <a:p>
            <a:r>
              <a:rPr lang="ja-JP" altLang="en-US" sz="1600" dirty="0"/>
              <a:t>　</a:t>
            </a:r>
            <a:r>
              <a:rPr lang="ja-JP" altLang="en-US" sz="1600" dirty="0" smtClean="0"/>
              <a:t>　⇒</a:t>
            </a:r>
            <a:endParaRPr kumimoji="1" lang="en-US" altLang="ja-JP" sz="1600" dirty="0" smtClean="0"/>
          </a:p>
          <a:p>
            <a:r>
              <a:rPr kumimoji="1" lang="ja-JP" altLang="en-US" sz="1600" dirty="0" smtClean="0"/>
              <a:t>■サービス利用側がサービス提供側の開発言語に依存しない</a:t>
            </a:r>
            <a:endParaRPr kumimoji="1" lang="en-US" altLang="ja-JP" sz="1600" dirty="0" smtClean="0"/>
          </a:p>
          <a:p>
            <a:r>
              <a:rPr kumimoji="1" lang="ja-JP" altLang="en-US" sz="1600" dirty="0" smtClean="0"/>
              <a:t>　　⇒サービス利用側</a:t>
            </a:r>
            <a:r>
              <a:rPr kumimoji="1" lang="en-US" altLang="ja-JP" sz="1600" dirty="0" smtClean="0"/>
              <a:t>(</a:t>
            </a:r>
            <a:r>
              <a:rPr kumimoji="1" lang="ja-JP" altLang="en-US" sz="1600" dirty="0" smtClean="0"/>
              <a:t>クライアント</a:t>
            </a:r>
            <a:r>
              <a:rPr kumimoji="1" lang="en-US" altLang="ja-JP" sz="1600" dirty="0" smtClean="0"/>
              <a:t>)</a:t>
            </a:r>
            <a:r>
              <a:rPr kumimoji="1" lang="ja-JP" altLang="en-US" sz="1600" dirty="0" err="1" smtClean="0"/>
              <a:t>の開</a:t>
            </a:r>
            <a:r>
              <a:rPr kumimoji="1" lang="ja-JP" altLang="en-US" sz="1600" dirty="0" smtClean="0"/>
              <a:t>発言語を制限しない作りが可能</a:t>
            </a:r>
            <a:endParaRPr kumimoji="1" lang="ja-JP" altLang="en-US" sz="1600" dirty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558799" y="3544529"/>
            <a:ext cx="4828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 smtClean="0"/>
              <a:t>■開発言語に依存しない</a:t>
            </a:r>
            <a:endParaRPr lang="en-US" altLang="ja-JP" sz="1600" dirty="0" smtClean="0"/>
          </a:p>
          <a:p>
            <a:r>
              <a:rPr lang="ja-JP" altLang="en-US" sz="1600" dirty="0" smtClean="0"/>
              <a:t>■汎用的なプロトコル・データフォーマットを使用できる</a:t>
            </a:r>
            <a:endParaRPr lang="en-US" altLang="ja-JP" sz="1600" dirty="0" smtClean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558799" y="5291455"/>
            <a:ext cx="68371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 smtClean="0"/>
              <a:t>■プロトコル・言語・規約ではないので実装方針が統一かされていない</a:t>
            </a:r>
            <a:endParaRPr lang="en-US" altLang="ja-JP" sz="1600" dirty="0" smtClean="0"/>
          </a:p>
          <a:p>
            <a:r>
              <a:rPr lang="ja-JP" altLang="en-US" sz="1600" dirty="0"/>
              <a:t>　</a:t>
            </a:r>
            <a:r>
              <a:rPr lang="ja-JP" altLang="en-US" sz="1600" dirty="0" smtClean="0"/>
              <a:t>　⇒実装側で自由に決める事ができるが、自由過ぎる事がデメリットにもなる</a:t>
            </a:r>
            <a:endParaRPr kumimoji="1"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291572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25908" y="41564"/>
            <a:ext cx="9221689" cy="463390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ja-JP" altLang="en-US" sz="2800" b="1" u="sng" dirty="0">
                <a:solidFill>
                  <a:schemeClr val="bg1"/>
                </a:solidFill>
                <a:latin typeface="+mj-ea"/>
              </a:rPr>
              <a:t>比較</a:t>
            </a:r>
            <a:endParaRPr lang="en-US" altLang="ja-JP" sz="2800" b="1" u="sng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4143077" y="7157192"/>
            <a:ext cx="2405658" cy="402483"/>
          </a:xfrm>
        </p:spPr>
        <p:txBody>
          <a:bodyPr/>
          <a:lstStyle/>
          <a:p>
            <a:pPr algn="ctr"/>
            <a:fld id="{AED8A0EF-F5B4-4572-888B-A40037D59371}" type="slidenum">
              <a:rPr kumimoji="1" lang="ja-JP" altLang="en-US" smtClean="0"/>
              <a:pPr algn="ctr"/>
              <a:t>9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0603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25908" y="41564"/>
            <a:ext cx="9221689" cy="463390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ja-JP" altLang="en-US" sz="2800" b="1" u="sng" dirty="0" smtClean="0">
                <a:solidFill>
                  <a:schemeClr val="bg1"/>
                </a:solidFill>
                <a:latin typeface="+mj-ea"/>
              </a:rPr>
              <a:t>方針</a:t>
            </a:r>
            <a:r>
              <a:rPr lang="ja-JP" altLang="en-US" sz="2800" b="1" u="sng" dirty="0">
                <a:solidFill>
                  <a:schemeClr val="bg1"/>
                </a:solidFill>
                <a:latin typeface="+mj-ea"/>
              </a:rPr>
              <a:t>確定</a:t>
            </a:r>
            <a:endParaRPr lang="en-US" altLang="ja-JP" sz="2800" b="1" u="sng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4143077" y="7157192"/>
            <a:ext cx="2405658" cy="402483"/>
          </a:xfrm>
        </p:spPr>
        <p:txBody>
          <a:bodyPr/>
          <a:lstStyle/>
          <a:p>
            <a:pPr algn="ctr"/>
            <a:fld id="{AED8A0EF-F5B4-4572-888B-A40037D59371}" type="slidenum">
              <a:rPr kumimoji="1" lang="ja-JP" altLang="en-US" smtClean="0"/>
              <a:pPr algn="ctr"/>
              <a:t>10</a:t>
            </a:fld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76563" y="865716"/>
            <a:ext cx="9938686" cy="338554"/>
          </a:xfrm>
          <a:prstGeom prst="rect">
            <a:avLst/>
          </a:prstGeom>
          <a:solidFill>
            <a:srgbClr val="FFFF99"/>
          </a:solidFill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600" b="1" u="sng" dirty="0" smtClean="0"/>
              <a:t>案</a:t>
            </a:r>
            <a:r>
              <a:rPr lang="en-US" altLang="ja-JP" sz="1600" b="1" u="sng" dirty="0" smtClean="0"/>
              <a:t>3</a:t>
            </a:r>
            <a:r>
              <a:rPr lang="ja-JP" altLang="en-US" sz="1600" b="1" u="sng" dirty="0" smtClean="0"/>
              <a:t>に確定</a:t>
            </a:r>
            <a:endParaRPr lang="en-US" altLang="ja-JP" sz="1600" b="1" u="sng" dirty="0" smtClean="0"/>
          </a:p>
        </p:txBody>
      </p:sp>
      <p:sp>
        <p:nvSpPr>
          <p:cNvPr id="3" name="下矢印 2"/>
          <p:cNvSpPr/>
          <p:nvPr/>
        </p:nvSpPr>
        <p:spPr>
          <a:xfrm>
            <a:off x="3717120" y="1277659"/>
            <a:ext cx="2480480" cy="43607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採用理由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/>
        </p:nvSpPr>
        <p:spPr>
          <a:xfrm>
            <a:off x="376563" y="1778000"/>
            <a:ext cx="9938686" cy="44196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6401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1" id="{506EFBEC-3317-4396-8E05-AC7860BE0683}" vid="{7D1EB860-56CF-4EC3-BA5D-6B96CCC3EC8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presentation_tp_027</Template>
  <TotalTime>3909</TotalTime>
  <Words>1063</Words>
  <Application>Microsoft Office PowerPoint</Application>
  <PresentationFormat>ユーザー設定</PresentationFormat>
  <Paragraphs>194</Paragraphs>
  <Slides>10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ＭＳ Ｐゴシック</vt:lpstr>
      <vt:lpstr>Arial</vt:lpstr>
      <vt:lpstr>Calibri</vt:lpstr>
      <vt:lpstr>Calibri Light</vt:lpstr>
      <vt:lpstr>Office テーマ</vt:lpstr>
      <vt:lpstr>WEB API 調査資料</vt:lpstr>
      <vt:lpstr>はじめに</vt:lpstr>
      <vt:lpstr>REST API(1/2)</vt:lpstr>
      <vt:lpstr>REST API(2/2)</vt:lpstr>
      <vt:lpstr>GraphQL(1/2)</vt:lpstr>
      <vt:lpstr>GraphQL(2/2)</vt:lpstr>
      <vt:lpstr>gRPC(1/2)</vt:lpstr>
      <vt:lpstr>gRPC(2)</vt:lpstr>
      <vt:lpstr>比較</vt:lpstr>
      <vt:lpstr>方針確定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プロジェクト管理手法</dc:title>
  <dc:creator>永田隆行</dc:creator>
  <cp:lastModifiedBy>永田 隆行</cp:lastModifiedBy>
  <cp:revision>170</cp:revision>
  <dcterms:created xsi:type="dcterms:W3CDTF">2017-12-23T11:15:55Z</dcterms:created>
  <dcterms:modified xsi:type="dcterms:W3CDTF">2019-03-17T14:42:38Z</dcterms:modified>
</cp:coreProperties>
</file>